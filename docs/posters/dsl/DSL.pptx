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366C"/>
    <a:srgbClr val="FFDC0C"/>
    <a:srgbClr val="A3D045"/>
    <a:srgbClr val="FFA70E"/>
    <a:srgbClr val="113059"/>
    <a:srgbClr val="8FC45F"/>
    <a:srgbClr val="CBCC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589"/>
  </p:normalViewPr>
  <p:slideViewPr>
    <p:cSldViewPr snapToGrid="0" showGuides="1">
      <p:cViewPr varScale="1">
        <p:scale>
          <a:sx n="34" d="100"/>
          <a:sy n="34" d="100"/>
        </p:scale>
        <p:origin x="2070" y="33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365280-A5D1-B44D-BF76-717E7F04FA7C}" type="datetimeFigureOut">
              <a:rPr lang="de-ES" smtClean="0"/>
              <a:t>06/12/2026</a:t>
            </a:fld>
            <a:endParaRPr lang="de-E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E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E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4FC8FA-C205-8C4D-BABA-5DEF8A02357D}" type="slidenum">
              <a:rPr lang="de-ES" smtClean="0"/>
              <a:t>‹#›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56597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E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4FC8FA-C205-8C4D-BABA-5DEF8A02357D}" type="slidenum">
              <a:rPr lang="de-ES" smtClean="0"/>
              <a:t>1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3098904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994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6602" userDrawn="1">
          <p15:clr>
            <a:srgbClr val="FBAE40"/>
          </p15:clr>
        </p15:guide>
        <p15:guide id="4" pos="6868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607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124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4580" userDrawn="1">
          <p15:clr>
            <a:srgbClr val="FBAE40"/>
          </p15:clr>
        </p15:guide>
        <p15:guide id="4" pos="8890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118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  <p15:guide id="16" pos="4853" userDrawn="1">
          <p15:clr>
            <a:srgbClr val="FBAE40"/>
          </p15:clr>
        </p15:guide>
        <p15:guide id="17" pos="8617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4339D31E-B214-FBE7-9F24-4AF3A3DD535C}"/>
              </a:ext>
            </a:extLst>
          </p:cNvPr>
          <p:cNvSpPr/>
          <p:nvPr userDrawn="1"/>
        </p:nvSpPr>
        <p:spPr>
          <a:xfrm>
            <a:off x="0" y="0"/>
            <a:ext cx="21383625" cy="7577138"/>
          </a:xfrm>
          <a:prstGeom prst="rect">
            <a:avLst/>
          </a:prstGeom>
          <a:solidFill>
            <a:srgbClr val="FFDC0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ES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AB3794D-F3F1-6273-BCF2-560B30828F3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95400" y="1293813"/>
            <a:ext cx="2581132" cy="2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192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816" userDrawn="1">
          <p15:clr>
            <a:srgbClr val="F26B43"/>
          </p15:clr>
        </p15:guide>
        <p15:guide id="2" pos="12654" userDrawn="1">
          <p15:clr>
            <a:srgbClr val="F26B43"/>
          </p15:clr>
        </p15:guide>
        <p15:guide id="3" orient="horz" pos="815" userDrawn="1">
          <p15:clr>
            <a:srgbClr val="F26B43"/>
          </p15:clr>
        </p15:guide>
        <p15:guide id="4" orient="horz" pos="1825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13" Type="http://schemas.openxmlformats.org/officeDocument/2006/relationships/image" Target="../media/image12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1.svg"/><Relationship Id="rId17" Type="http://schemas.microsoft.com/office/2007/relationships/hdphoto" Target="../media/hdphoto2.wdp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0.png"/><Relationship Id="rId5" Type="http://schemas.openxmlformats.org/officeDocument/2006/relationships/image" Target="../media/image5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4.png"/><Relationship Id="rId9" Type="http://schemas.openxmlformats.org/officeDocument/2006/relationships/image" Target="../media/image8.jpeg"/><Relationship Id="rId14" Type="http://schemas.openxmlformats.org/officeDocument/2006/relationships/image" Target="../media/image1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">
            <a:extLst>
              <a:ext uri="{FF2B5EF4-FFF2-40B4-BE49-F238E27FC236}">
                <a16:creationId xmlns:a16="http://schemas.microsoft.com/office/drawing/2014/main" id="{2D58A933-1368-BDA9-D738-82CD528BF03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95400" y="11091864"/>
            <a:ext cx="18784800" cy="17907750"/>
          </a:xfrm>
          <a:prstGeom prst="rect">
            <a:avLst/>
          </a:prstGeom>
          <a:noFill/>
        </p:spPr>
        <p:txBody>
          <a:bodyPr wrap="square" numCol="2" spcCol="432000" rtlCol="0">
            <a:noAutofit/>
          </a:bodyPr>
          <a:lstStyle/>
          <a:p>
            <a:r>
              <a:rPr lang="de-DE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Domain </a:t>
            </a:r>
            <a:r>
              <a:rPr lang="de-DE" sz="3600" b="1" dirty="0" err="1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Specific</a:t>
            </a:r>
            <a:r>
              <a:rPr lang="de-DE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Language (DSL) </a:t>
            </a:r>
          </a:p>
          <a:p>
            <a:r>
              <a:rPr lang="de-DE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als Lösung:</a:t>
            </a:r>
            <a:endParaRPr lang="de-DE" sz="3600" dirty="0">
              <a:solidFill>
                <a:srgbClr val="05366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Eine DSL ist nützlich, wenn man eine bestimmte Aufgabe immer wieder beschreiben möchte.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Zum Beispiel: einen Weg, ein Rezept, Spielregeln oder Befehle für einen Roboter…</a:t>
            </a: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Wie ist eine DSL definiert?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Eine DSL kann ganz unterschiedlich aussehen. </a:t>
            </a:r>
            <a:r>
              <a:rPr lang="de-CH" sz="3600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Wichtig ist</a:t>
            </a: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Alle verstehen, was die Wörter 	bedeuten.</a:t>
            </a: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Beispiel</a:t>
            </a: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: Diese DSL beschreibt einen Pfad, also einen Weg durch ein Labyrinth:</a:t>
            </a: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b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 finde ich DSL im echten Leben?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Rezepte sind eine</a:t>
            </a:r>
          </a:p>
          <a:p>
            <a:pPr>
              <a:lnSpc>
                <a:spcPts val="4000"/>
              </a:lnSpc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Art DSL:</a:t>
            </a:r>
            <a:b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Musiknoten </a:t>
            </a:r>
          </a:p>
          <a:p>
            <a:pPr>
              <a:lnSpc>
                <a:spcPts val="4000"/>
              </a:lnSpc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sind ebenfalls DSLs: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Spielregeln können </a:t>
            </a:r>
          </a:p>
          <a:p>
            <a:pPr>
              <a:lnSpc>
                <a:spcPts val="4000"/>
              </a:lnSpc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auch als DSL verstanden</a:t>
            </a:r>
          </a:p>
          <a:p>
            <a:pPr>
              <a:lnSpc>
                <a:spcPts val="4000"/>
              </a:lnSpc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werden: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CH" sz="3600" b="1" dirty="0">
                <a:latin typeface="Arial" panose="020B0604020202020204" pitchFamily="34" charset="0"/>
                <a:cs typeface="Arial" panose="020B0604020202020204" pitchFamily="34" charset="0"/>
              </a:rPr>
              <a:t>Befehle für einen </a:t>
            </a:r>
          </a:p>
          <a:p>
            <a:pPr>
              <a:lnSpc>
                <a:spcPts val="4000"/>
              </a:lnSpc>
            </a:pPr>
            <a:r>
              <a:rPr lang="de-CH" sz="3600" b="1" dirty="0">
                <a:latin typeface="Arial" panose="020B0604020202020204" pitchFamily="34" charset="0"/>
                <a:cs typeface="Arial" panose="020B0604020202020204" pitchFamily="34" charset="0"/>
              </a:rPr>
              <a:t>Roboter sind auch DSLs: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E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olientitel">
            <a:extLst>
              <a:ext uri="{FF2B5EF4-FFF2-40B4-BE49-F238E27FC236}">
                <a16:creationId xmlns:a16="http://schemas.microsoft.com/office/drawing/2014/main" id="{C427CC06-E3A4-93BE-4C3D-E04AE8C2028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-1920418"/>
            <a:ext cx="240792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ES" sz="6000" dirty="0"/>
              <a:t>Folientitel: Hochformat Option 1</a:t>
            </a:r>
          </a:p>
        </p:txBody>
      </p:sp>
      <p:sp>
        <p:nvSpPr>
          <p:cNvPr id="9" name="Absender">
            <a:extLst>
              <a:ext uri="{FF2B5EF4-FFF2-40B4-BE49-F238E27FC236}">
                <a16:creationId xmlns:a16="http://schemas.microsoft.com/office/drawing/2014/main" id="{AC01F2C9-3397-A183-8F4D-624C00D6CD73}"/>
              </a:ext>
            </a:extLst>
          </p:cNvPr>
          <p:cNvSpPr txBox="1">
            <a:spLocks/>
          </p:cNvSpPr>
          <p:nvPr/>
        </p:nvSpPr>
        <p:spPr>
          <a:xfrm>
            <a:off x="15238499" y="1608398"/>
            <a:ext cx="4849726" cy="1823576"/>
          </a:xfrm>
          <a:prstGeom prst="rect">
            <a:avLst/>
          </a:prstGeom>
          <a:noFill/>
        </p:spPr>
        <p:txBody>
          <a:bodyPr wrap="none" numCol="1" spcCol="432000" rtlCol="0">
            <a:spAutoFit/>
          </a:bodyPr>
          <a:lstStyle/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School of</a:t>
            </a:r>
          </a:p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Engineering</a:t>
            </a:r>
          </a:p>
          <a:p>
            <a:pPr marL="14288">
              <a:lnSpc>
                <a:spcPts val="4500"/>
              </a:lnSpc>
            </a:pPr>
            <a:r>
              <a:rPr lang="en-US" sz="4000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Institut für Informatik</a:t>
            </a:r>
          </a:p>
        </p:txBody>
      </p:sp>
      <p:sp>
        <p:nvSpPr>
          <p:cNvPr id="22" name="Titel">
            <a:extLst>
              <a:ext uri="{FF2B5EF4-FFF2-40B4-BE49-F238E27FC236}">
                <a16:creationId xmlns:a16="http://schemas.microsoft.com/office/drawing/2014/main" id="{E46BC8C7-0FA9-BBF3-4D8D-BB3880223D9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 bwMode="auto">
          <a:xfrm>
            <a:off x="1295399" y="5465310"/>
            <a:ext cx="18659569" cy="4407162"/>
          </a:xfrm>
          <a:prstGeom prst="roundRect">
            <a:avLst>
              <a:gd name="adj" fmla="val 5729"/>
            </a:avLst>
          </a:prstGeom>
          <a:solidFill>
            <a:srgbClr val="05366C"/>
          </a:solidFill>
        </p:spPr>
        <p:txBody>
          <a:bodyPr vert="horz" wrap="none" lIns="360000" tIns="360000" rIns="360000" bIns="180000" rtlCol="0" anchor="ctr" anchorCtr="0">
            <a:spAutoFit/>
          </a:bodyPr>
          <a:lstStyle>
            <a:lvl1pPr algn="l" defTabSz="914400" rtl="0" eaLnBrk="1" latinLnBrk="0" hangingPunct="1">
              <a:lnSpc>
                <a:spcPct val="92000"/>
              </a:lnSpc>
              <a:spcBef>
                <a:spcPct val="0"/>
              </a:spcBef>
              <a:buNone/>
              <a:defRPr sz="5000" kern="1200">
                <a:solidFill>
                  <a:srgbClr val="05366C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2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CH" sz="5400" b="0" i="0" u="none" strike="noStrike" kern="1200" cap="none" spc="0" normalizeH="0" baseline="0" noProof="0" dirty="0" err="1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No</a:t>
            </a:r>
            <a:r>
              <a:rPr lang="de-CH" sz="5400" dirty="0">
                <a:solidFill>
                  <a:srgbClr val="FFDC0C"/>
                </a:solidFill>
                <a:latin typeface="Arial" panose="020B0604020202020204"/>
              </a:rPr>
              <a:t> </a:t>
            </a:r>
            <a:r>
              <a:rPr kumimoji="0" lang="de-CH" sz="54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Code Softwareentwicklung:</a:t>
            </a:r>
            <a:br>
              <a:rPr kumimoji="0" lang="de-CH" sz="50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</a:br>
            <a:r>
              <a:rPr kumimoji="0" lang="de-CH" sz="105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Wie programmiere ich </a:t>
            </a:r>
          </a:p>
          <a:p>
            <a:pPr marL="0" marR="0" lvl="0" indent="0" algn="l" defTabSz="914400" rtl="0" eaLnBrk="1" fontAlgn="auto" latinLnBrk="0" hangingPunct="1">
              <a:lnSpc>
                <a:spcPct val="92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sz="10500" dirty="0">
                <a:solidFill>
                  <a:srgbClr val="FFDC0C"/>
                </a:solidFill>
                <a:latin typeface="Arial" panose="020B0604020202020204"/>
              </a:rPr>
              <a:t>mit Worten die jeder versteht?</a:t>
            </a:r>
            <a:endParaRPr kumimoji="0" lang="de-CH" sz="10500" b="0" i="0" u="none" strike="noStrike" kern="1200" cap="none" spc="0" normalizeH="0" baseline="0" noProof="0" dirty="0">
              <a:ln>
                <a:noFill/>
              </a:ln>
              <a:solidFill>
                <a:srgbClr val="FFDC0C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F7B6510-676A-636F-51DB-14A890EBB3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7824" r="38800" b="2408"/>
          <a:stretch>
            <a:fillRect/>
          </a:stretch>
        </p:blipFill>
        <p:spPr>
          <a:xfrm>
            <a:off x="1303425" y="19591171"/>
            <a:ext cx="8783391" cy="658102"/>
          </a:xfrm>
          <a:prstGeom prst="rect">
            <a:avLst/>
          </a:prstGeom>
          <a:ln w="38100">
            <a:noFill/>
          </a:ln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D2ED89B-CE96-1A1C-0D3A-3A56C693AA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25362" y="12845739"/>
            <a:ext cx="3600000" cy="360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CB2EDB8-34C5-0D5A-74C4-A2C9E59F1B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25362" y="16966690"/>
            <a:ext cx="3600000" cy="360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9F788DD-628E-F99F-C68B-4C4991ED88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125362" y="21439614"/>
            <a:ext cx="3600000" cy="3600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87E3C4D-E449-623E-F5D1-810955220878}"/>
              </a:ext>
            </a:extLst>
          </p:cNvPr>
          <p:cNvSpPr txBox="1"/>
          <p:nvPr/>
        </p:nvSpPr>
        <p:spPr>
          <a:xfrm rot="20457915">
            <a:off x="4043212" y="911787"/>
            <a:ext cx="661499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4400" b="1">
                <a:solidFill>
                  <a:srgbClr val="05366C"/>
                </a:solidFill>
              </a:rPr>
              <a:t>Hol </a:t>
            </a:r>
            <a:r>
              <a:rPr lang="de-CH" sz="4400" b="1" dirty="0">
                <a:solidFill>
                  <a:srgbClr val="05366C"/>
                </a:solidFill>
              </a:rPr>
              <a:t>dir deine Glace:</a:t>
            </a:r>
          </a:p>
          <a:p>
            <a:pPr algn="ctr"/>
            <a:r>
              <a:rPr lang="de-CH" sz="4400" b="1" dirty="0">
                <a:solidFill>
                  <a:srgbClr val="05366C"/>
                </a:solidFill>
              </a:rPr>
              <a:t>Scannen &amp; Spielen!</a:t>
            </a:r>
          </a:p>
        </p:txBody>
      </p:sp>
      <p:pic>
        <p:nvPicPr>
          <p:cNvPr id="10" name="Picture 9" descr="A drawing of a blue ice cream cone&#10;&#10;AI-generated content may be incorrect.">
            <a:extLst>
              <a:ext uri="{FF2B5EF4-FFF2-40B4-BE49-F238E27FC236}">
                <a16:creationId xmlns:a16="http://schemas.microsoft.com/office/drawing/2014/main" id="{A06FCEEE-C07B-2E22-C78C-3AE47E9E6C4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8293" b="91308" l="9888" r="89872">
                        <a14:foregroundMark x1="51196" y1="8612" x2="49522" y2="8373"/>
                        <a14:foregroundMark x1="49601" y1="91308" x2="49601" y2="91308"/>
                        <a14:backgroundMark x1="48724" y1="7895" x2="48724" y2="7895"/>
                        <a14:backgroundMark x1="51276" y1="8373" x2="49282" y2="972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1000000">
            <a:off x="7137834" y="2357992"/>
            <a:ext cx="2676720" cy="2676720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BC84186A-FA96-4230-CA51-764838F2E5F0}"/>
              </a:ext>
            </a:extLst>
          </p:cNvPr>
          <p:cNvGrpSpPr/>
          <p:nvPr/>
        </p:nvGrpSpPr>
        <p:grpSpPr>
          <a:xfrm>
            <a:off x="9661730" y="434630"/>
            <a:ext cx="4841700" cy="4736365"/>
            <a:chOff x="9661730" y="434630"/>
            <a:chExt cx="4841700" cy="4736365"/>
          </a:xfrm>
        </p:grpSpPr>
        <p:sp>
          <p:nvSpPr>
            <p:cNvPr id="6" name="Google Shape;110;p14">
              <a:extLst>
                <a:ext uri="{FF2B5EF4-FFF2-40B4-BE49-F238E27FC236}">
                  <a16:creationId xmlns:a16="http://schemas.microsoft.com/office/drawing/2014/main" id="{4A028DB4-B606-FB06-89A5-D0645391D987}"/>
                </a:ext>
              </a:extLst>
            </p:cNvPr>
            <p:cNvSpPr/>
            <p:nvPr/>
          </p:nvSpPr>
          <p:spPr>
            <a:xfrm>
              <a:off x="9661730" y="434630"/>
              <a:ext cx="4841700" cy="4736365"/>
            </a:xfrm>
            <a:prstGeom prst="ellipse">
              <a:avLst/>
            </a:prstGeom>
            <a:solidFill>
              <a:srgbClr val="05366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999" tIns="65999" rIns="65999" bIns="65999" anchor="ctr" anchorCtr="0">
              <a:noAutofit/>
            </a:bodyPr>
            <a:lstStyle/>
            <a:p>
              <a:pPr algn="ctr"/>
              <a:endParaRPr sz="754" dirty="0"/>
            </a:p>
          </p:txBody>
        </p:sp>
        <p:pic>
          <p:nvPicPr>
            <p:cNvPr id="18" name="Picture 17" descr="A qr code with a white background&#10;&#10;AI-generated content may be incorrect.">
              <a:extLst>
                <a:ext uri="{FF2B5EF4-FFF2-40B4-BE49-F238E27FC236}">
                  <a16:creationId xmlns:a16="http://schemas.microsoft.com/office/drawing/2014/main" id="{81EDBF36-0840-F85F-76D6-452D1B31866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8751" t="8546" r="8050" b="9333"/>
            <a:stretch>
              <a:fillRect/>
            </a:stretch>
          </p:blipFill>
          <p:spPr>
            <a:xfrm>
              <a:off x="10461384" y="1182574"/>
              <a:ext cx="3242392" cy="3200400"/>
            </a:xfrm>
            <a:prstGeom prst="rect">
              <a:avLst/>
            </a:prstGeom>
          </p:spPr>
        </p:pic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0CFEA664-252B-E90F-0351-9AED590ED9D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42440" y="20353960"/>
            <a:ext cx="6705360" cy="66874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666B70A-8F1B-765A-924A-1AC2DD653F7C}"/>
              </a:ext>
            </a:extLst>
          </p:cNvPr>
          <p:cNvSpPr txBox="1"/>
          <p:nvPr/>
        </p:nvSpPr>
        <p:spPr>
          <a:xfrm>
            <a:off x="8642418" y="28366998"/>
            <a:ext cx="4457236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000"/>
              </a:lnSpc>
            </a:pPr>
            <a:r>
              <a:rPr lang="de-DE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Kontakt</a:t>
            </a:r>
          </a:p>
          <a:p>
            <a:pPr>
              <a:lnSpc>
                <a:spcPts val="4000"/>
              </a:lnSpc>
            </a:pPr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Gabriele Cyril, Research Assistant</a:t>
            </a:r>
          </a:p>
          <a:p>
            <a:endParaRPr lang="de-CH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45E8A33A-D04B-2F20-58F4-1CC07D080E4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096962" y="28316991"/>
            <a:ext cx="1828800" cy="18288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250C133-3897-BB76-26D6-600BEC3F09D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01645" y="27892538"/>
            <a:ext cx="340668" cy="34066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68B035D-3E49-2BE3-91CE-C5EFD84C80AF}"/>
              </a:ext>
            </a:extLst>
          </p:cNvPr>
          <p:cNvSpPr txBox="1"/>
          <p:nvPr/>
        </p:nvSpPr>
        <p:spPr>
          <a:xfrm>
            <a:off x="235840" y="27285533"/>
            <a:ext cx="4457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800" b="1" dirty="0">
                <a:solidFill>
                  <a:srgbClr val="05366C"/>
                </a:solidFill>
              </a:rPr>
              <a:t>Finde uns hier:</a:t>
            </a:r>
          </a:p>
        </p:txBody>
      </p:sp>
      <p:pic>
        <p:nvPicPr>
          <p:cNvPr id="21" name="Picture 20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F56B958D-88DD-8273-9E54-E8B55D7B7BA2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l="6087" t="5731" r="6413" b="6489"/>
          <a:stretch>
            <a:fillRect/>
          </a:stretch>
        </p:blipFill>
        <p:spPr>
          <a:xfrm>
            <a:off x="1557329" y="28316991"/>
            <a:ext cx="1822977" cy="18288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62874424-1751-7FB6-3DA4-AF6E3AA72774}"/>
              </a:ext>
            </a:extLst>
          </p:cNvPr>
          <p:cNvSpPr txBox="1"/>
          <p:nvPr/>
        </p:nvSpPr>
        <p:spPr>
          <a:xfrm>
            <a:off x="235840" y="27862817"/>
            <a:ext cx="40584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000" b="1" dirty="0">
                <a:solidFill>
                  <a:srgbClr val="05366C"/>
                </a:solidFill>
              </a:rPr>
              <a:t>SWE Research Group Webpage:</a:t>
            </a:r>
            <a:endParaRPr lang="de-CH" sz="2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0F81F6-4FBE-3B69-EA0C-D14FC1792866}"/>
              </a:ext>
            </a:extLst>
          </p:cNvPr>
          <p:cNvSpPr txBox="1"/>
          <p:nvPr/>
        </p:nvSpPr>
        <p:spPr>
          <a:xfrm>
            <a:off x="5510206" y="27862817"/>
            <a:ext cx="1415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000" b="1" dirty="0">
                <a:solidFill>
                  <a:srgbClr val="05366C"/>
                </a:solidFill>
              </a:rPr>
              <a:t>GitHub:</a:t>
            </a:r>
            <a:endParaRPr lang="de-CH" sz="20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10D4E2C-26E0-A946-6C49-94EF402C956A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15382355" y="3726289"/>
            <a:ext cx="4572613" cy="457261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4B96F29-7BCB-2B3B-6E54-B10C9AF6C2F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945362" y="25912538"/>
            <a:ext cx="3960000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379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äsentation1" id="{45D0BC08-1FFC-4B05-88B7-798E33502EAB}" vid="{1E4F79FC-831A-42B7-BF0A-46F8509C7AE2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F&amp;E_Hochformat_InIT</Template>
  <TotalTime>0</TotalTime>
  <Words>169</Words>
  <Application>Microsoft Office PowerPoint</Application>
  <PresentationFormat>Custom</PresentationFormat>
  <Paragraphs>71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Gabriele Cyril (gabc)</dc:creator>
  <cp:keywords/>
  <dc:description/>
  <cp:lastModifiedBy>Gabriele Cyril (gabc)</cp:lastModifiedBy>
  <cp:revision>26</cp:revision>
  <dcterms:created xsi:type="dcterms:W3CDTF">2026-06-03T08:55:54Z</dcterms:created>
  <dcterms:modified xsi:type="dcterms:W3CDTF">2026-06-12T08:44:13Z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2026-04-30T13:40:02Z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0bdbe453-518a-4480-b238-7aac6fa51f48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10, 3, 0, 1</vt:lpwstr>
  </property>
</Properties>
</file>