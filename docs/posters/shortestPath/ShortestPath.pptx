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366C"/>
    <a:srgbClr val="FFDC0C"/>
    <a:srgbClr val="A3D045"/>
    <a:srgbClr val="FFA70E"/>
    <a:srgbClr val="113059"/>
    <a:srgbClr val="8FC45F"/>
    <a:srgbClr val="CBCC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89"/>
  </p:normalViewPr>
  <p:slideViewPr>
    <p:cSldViewPr snapToGrid="0" showGuides="1">
      <p:cViewPr>
        <p:scale>
          <a:sx n="33" d="100"/>
          <a:sy n="33" d="100"/>
        </p:scale>
        <p:origin x="1644" y="-226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65280-A5D1-B44D-BF76-717E7F04FA7C}" type="datetimeFigureOut">
              <a:rPr lang="de-ES" smtClean="0"/>
              <a:t>06/03/2026</a:t>
            </a:fld>
            <a:endParaRPr lang="de-E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E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E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FC8FA-C205-8C4D-BABA-5DEF8A02357D}" type="slidenum">
              <a:rPr lang="de-ES" smtClean="0"/>
              <a:t>‹#›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56597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E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FC8FA-C205-8C4D-BABA-5DEF8A02357D}" type="slidenum">
              <a:rPr lang="de-ES" smtClean="0"/>
              <a:t>1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309890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994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6602" userDrawn="1">
          <p15:clr>
            <a:srgbClr val="FBAE40"/>
          </p15:clr>
        </p15:guide>
        <p15:guide id="4" pos="6868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607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124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580" userDrawn="1">
          <p15:clr>
            <a:srgbClr val="FBAE40"/>
          </p15:clr>
        </p15:guide>
        <p15:guide id="4" pos="8890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118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  <p15:guide id="16" pos="4853" userDrawn="1">
          <p15:clr>
            <a:srgbClr val="FBAE40"/>
          </p15:clr>
        </p15:guide>
        <p15:guide id="17" pos="861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339D31E-B214-FBE7-9F24-4AF3A3DD535C}"/>
              </a:ext>
            </a:extLst>
          </p:cNvPr>
          <p:cNvSpPr/>
          <p:nvPr userDrawn="1"/>
        </p:nvSpPr>
        <p:spPr>
          <a:xfrm>
            <a:off x="0" y="0"/>
            <a:ext cx="21383625" cy="7577138"/>
          </a:xfrm>
          <a:prstGeom prst="rect">
            <a:avLst/>
          </a:prstGeom>
          <a:solidFill>
            <a:srgbClr val="FFDC0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ES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AB3794D-F3F1-6273-BCF2-560B30828F3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95400" y="1293813"/>
            <a:ext cx="2581132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192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816" userDrawn="1">
          <p15:clr>
            <a:srgbClr val="F26B43"/>
          </p15:clr>
        </p15:guide>
        <p15:guide id="2" pos="12654" userDrawn="1">
          <p15:clr>
            <a:srgbClr val="F26B43"/>
          </p15:clr>
        </p15:guide>
        <p15:guide id="3" orient="horz" pos="815" userDrawn="1">
          <p15:clr>
            <a:srgbClr val="F26B43"/>
          </p15:clr>
        </p15:guide>
        <p15:guide id="4" orient="horz" pos="1825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12.png"/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0.png"/><Relationship Id="rId5" Type="http://schemas.openxmlformats.org/officeDocument/2006/relationships/image" Target="../media/image5.svg"/><Relationship Id="rId10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">
            <a:extLst>
              <a:ext uri="{FF2B5EF4-FFF2-40B4-BE49-F238E27FC236}">
                <a16:creationId xmlns:a16="http://schemas.microsoft.com/office/drawing/2014/main" id="{2D58A933-1368-BDA9-D738-82CD528BF03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95400" y="11091864"/>
            <a:ext cx="18784800" cy="17907750"/>
          </a:xfrm>
          <a:prstGeom prst="rect">
            <a:avLst/>
          </a:prstGeom>
          <a:noFill/>
        </p:spPr>
        <p:txBody>
          <a:bodyPr wrap="square" numCol="2" spcCol="432000" rtlCol="0">
            <a:noAutofit/>
          </a:bodyPr>
          <a:lstStyle/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Wann brauche ich einen kürzesten Pfad?</a:t>
            </a:r>
          </a:p>
          <a:p>
            <a:r>
              <a:rPr lang="de-CH" sz="3600" dirty="0"/>
              <a:t>Wenn du heute auf dem direktesten Weg nach Hause willst, musst du den kürzesten Pfad nehmen. </a:t>
            </a:r>
          </a:p>
          <a:p>
            <a:r>
              <a:rPr lang="de-CH" sz="3600" dirty="0"/>
              <a:t>Der kürzeste Pfad ist also der beste Weg.</a:t>
            </a:r>
            <a:endParaRPr lang="de-CH" sz="1600" dirty="0"/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Wie finde ich einen kürzesten Pfad?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Wenn alle Schritte gleich gross sind, dann verwendet man den Dijkstra Algorithmus.</a:t>
            </a:r>
            <a:b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Mit diesem Algorithmus, kann man dann in einem Netz den kürzesten Pfad finden. Du siehst das animiert in der Demo. Scanne dafür den QR-Code.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Beispiel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unten siehst du in grün den kürzesten Pfad in diesem Netz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 finde ich DSLs im echten Leben?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Der Postbote nutzt das, für eine schnelle Lieferung:</a:t>
            </a: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Wenn du in die Ferien fährst und ihr das Navi braucht: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In Spielen müssen oft kürzeste Pfade gefunden werden: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E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olientitel">
            <a:extLst>
              <a:ext uri="{FF2B5EF4-FFF2-40B4-BE49-F238E27FC236}">
                <a16:creationId xmlns:a16="http://schemas.microsoft.com/office/drawing/2014/main" id="{C427CC06-E3A4-93BE-4C3D-E04AE8C2028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1920418"/>
            <a:ext cx="24079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ES" sz="6000" dirty="0"/>
              <a:t>Folientitel: Hochformat Option 1</a:t>
            </a:r>
          </a:p>
        </p:txBody>
      </p:sp>
      <p:sp>
        <p:nvSpPr>
          <p:cNvPr id="9" name="Absender">
            <a:extLst>
              <a:ext uri="{FF2B5EF4-FFF2-40B4-BE49-F238E27FC236}">
                <a16:creationId xmlns:a16="http://schemas.microsoft.com/office/drawing/2014/main" id="{AC01F2C9-3397-A183-8F4D-624C00D6CD73}"/>
              </a:ext>
            </a:extLst>
          </p:cNvPr>
          <p:cNvSpPr txBox="1">
            <a:spLocks/>
          </p:cNvSpPr>
          <p:nvPr/>
        </p:nvSpPr>
        <p:spPr>
          <a:xfrm>
            <a:off x="15238499" y="1608398"/>
            <a:ext cx="4849726" cy="1823576"/>
          </a:xfrm>
          <a:prstGeom prst="rect">
            <a:avLst/>
          </a:prstGeom>
          <a:noFill/>
        </p:spPr>
        <p:txBody>
          <a:bodyPr wrap="none" numCol="1" spcCol="432000" rtlCol="0">
            <a:spAutoFit/>
          </a:bodyPr>
          <a:lstStyle/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School of</a:t>
            </a:r>
          </a:p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Engineering</a:t>
            </a:r>
          </a:p>
          <a:p>
            <a:pPr marL="14288">
              <a:lnSpc>
                <a:spcPts val="4500"/>
              </a:lnSpc>
            </a:pPr>
            <a:r>
              <a:rPr lang="en-US" sz="40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Institut für Informatik</a:t>
            </a:r>
          </a:p>
        </p:txBody>
      </p:sp>
      <p:sp>
        <p:nvSpPr>
          <p:cNvPr id="22" name="Titel">
            <a:extLst>
              <a:ext uri="{FF2B5EF4-FFF2-40B4-BE49-F238E27FC236}">
                <a16:creationId xmlns:a16="http://schemas.microsoft.com/office/drawing/2014/main" id="{E46BC8C7-0FA9-BBF3-4D8D-BB3880223D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1295399" y="6120892"/>
            <a:ext cx="19467739" cy="3095998"/>
          </a:xfrm>
          <a:prstGeom prst="roundRect">
            <a:avLst>
              <a:gd name="adj" fmla="val 5729"/>
            </a:avLst>
          </a:prstGeom>
          <a:solidFill>
            <a:srgbClr val="05366C"/>
          </a:solidFill>
        </p:spPr>
        <p:txBody>
          <a:bodyPr vert="horz" wrap="none" lIns="360000" tIns="360000" rIns="360000" bIns="180000" rtlCol="0" anchor="ctr" anchorCtr="0">
            <a:spAutoFit/>
          </a:bodyPr>
          <a:lstStyle>
            <a:lvl1pPr algn="l" defTabSz="914400" rtl="0" eaLnBrk="1" latinLnBrk="0" hangingPunct="1">
              <a:lnSpc>
                <a:spcPct val="92000"/>
              </a:lnSpc>
              <a:spcBef>
                <a:spcPct val="0"/>
              </a:spcBef>
              <a:buNone/>
              <a:defRPr sz="5000" kern="1200">
                <a:solidFill>
                  <a:srgbClr val="05366C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54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Was ist ein:</a:t>
            </a:r>
            <a:br>
              <a:rPr kumimoji="0" lang="de-CH" sz="5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</a:br>
            <a:r>
              <a:rPr lang="de-CH" sz="12000" dirty="0">
                <a:solidFill>
                  <a:srgbClr val="FFDC0C"/>
                </a:solidFill>
                <a:latin typeface="Arial" panose="020B0604020202020204"/>
              </a:rPr>
              <a:t>Kürzester Pfad?                  </a:t>
            </a:r>
            <a:endParaRPr kumimoji="0" lang="de-CH" sz="12000" b="0" i="0" u="none" strike="noStrike" kern="1200" cap="none" spc="0" normalizeH="0" baseline="0" noProof="0" dirty="0">
              <a:ln>
                <a:noFill/>
              </a:ln>
              <a:solidFill>
                <a:srgbClr val="FFDC0C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047B85A-88CC-8398-EE9D-6C5FABFAA415}"/>
              </a:ext>
            </a:extLst>
          </p:cNvPr>
          <p:cNvGrpSpPr/>
          <p:nvPr/>
        </p:nvGrpSpPr>
        <p:grpSpPr>
          <a:xfrm>
            <a:off x="15921438" y="24917350"/>
            <a:ext cx="4841700" cy="4736365"/>
            <a:chOff x="13866470" y="450280"/>
            <a:chExt cx="4841700" cy="4736365"/>
          </a:xfrm>
        </p:grpSpPr>
        <p:sp>
          <p:nvSpPr>
            <p:cNvPr id="15" name="Google Shape;110;p14">
              <a:extLst>
                <a:ext uri="{FF2B5EF4-FFF2-40B4-BE49-F238E27FC236}">
                  <a16:creationId xmlns:a16="http://schemas.microsoft.com/office/drawing/2014/main" id="{59773DD0-78F0-ADC8-9189-1D97A9428E53}"/>
                </a:ext>
              </a:extLst>
            </p:cNvPr>
            <p:cNvSpPr/>
            <p:nvPr/>
          </p:nvSpPr>
          <p:spPr>
            <a:xfrm>
              <a:off x="13866470" y="450280"/>
              <a:ext cx="4841700" cy="4736365"/>
            </a:xfrm>
            <a:prstGeom prst="ellipse">
              <a:avLst/>
            </a:prstGeom>
            <a:solidFill>
              <a:srgbClr val="FFDC0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999" tIns="65999" rIns="65999" bIns="65999" anchor="ctr" anchorCtr="0">
              <a:noAutofit/>
            </a:bodyPr>
            <a:lstStyle/>
            <a:p>
              <a:pPr algn="ctr"/>
              <a:endParaRPr sz="754" dirty="0"/>
            </a:p>
          </p:txBody>
        </p:sp>
        <p:pic>
          <p:nvPicPr>
            <p:cNvPr id="16" name="Picture 15" descr="A qr code with a white background&#10;&#10;AI-generated content may be incorrect.">
              <a:extLst>
                <a:ext uri="{FF2B5EF4-FFF2-40B4-BE49-F238E27FC236}">
                  <a16:creationId xmlns:a16="http://schemas.microsoft.com/office/drawing/2014/main" id="{D3723E1E-FE9E-18C4-6CEE-BD5A3813C9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094" t="8652" r="8394" b="8259"/>
            <a:stretch>
              <a:fillRect/>
            </a:stretch>
          </p:blipFill>
          <p:spPr>
            <a:xfrm>
              <a:off x="14721749" y="1237435"/>
              <a:ext cx="3131139" cy="3153044"/>
            </a:xfrm>
            <a:prstGeom prst="rect">
              <a:avLst/>
            </a:prstGeom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C92D76B1-25BF-0E51-9AAA-203D2DBF3B99}"/>
              </a:ext>
            </a:extLst>
          </p:cNvPr>
          <p:cNvSpPr txBox="1"/>
          <p:nvPr/>
        </p:nvSpPr>
        <p:spPr>
          <a:xfrm>
            <a:off x="9404621" y="25420024"/>
            <a:ext cx="66149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5400" b="1" dirty="0">
                <a:solidFill>
                  <a:srgbClr val="05366C"/>
                </a:solidFill>
              </a:rPr>
              <a:t>Holl dir deine Glace:</a:t>
            </a:r>
          </a:p>
          <a:p>
            <a:pPr algn="ctr"/>
            <a:r>
              <a:rPr lang="de-CH" sz="5400" b="1" dirty="0">
                <a:solidFill>
                  <a:srgbClr val="05366C"/>
                </a:solidFill>
              </a:rPr>
              <a:t>Scannen &amp; Spielen!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B4D57DBB-A1C3-6175-2569-A247A3E965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4224" y="28217182"/>
            <a:ext cx="1828800" cy="1828800"/>
          </a:xfrm>
          <a:prstGeom prst="rect">
            <a:avLst/>
          </a:prstGeom>
        </p:spPr>
      </p:pic>
      <p:pic>
        <p:nvPicPr>
          <p:cNvPr id="2" name="Picture 1" descr="A drawing of a blue ice cream cone&#10;&#10;AI-generated content may be incorrect.">
            <a:extLst>
              <a:ext uri="{FF2B5EF4-FFF2-40B4-BE49-F238E27FC236}">
                <a16:creationId xmlns:a16="http://schemas.microsoft.com/office/drawing/2014/main" id="{5F29B54E-FEE8-7AC2-4465-ACDC20E3F2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000000">
            <a:off x="13425806" y="27386422"/>
            <a:ext cx="2676720" cy="267672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D28072-4F7C-F049-2C2F-2E2C58A83FF3}"/>
              </a:ext>
            </a:extLst>
          </p:cNvPr>
          <p:cNvSpPr txBox="1"/>
          <p:nvPr/>
        </p:nvSpPr>
        <p:spPr>
          <a:xfrm>
            <a:off x="235840" y="27285533"/>
            <a:ext cx="40602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800" b="1" dirty="0">
                <a:solidFill>
                  <a:srgbClr val="05366C"/>
                </a:solidFill>
              </a:rPr>
              <a:t>Finde uns auf</a:t>
            </a:r>
          </a:p>
          <a:p>
            <a:r>
              <a:rPr lang="de-CH" sz="2800" b="1" dirty="0">
                <a:solidFill>
                  <a:srgbClr val="05366C"/>
                </a:solidFill>
              </a:rPr>
              <a:t>	GitHub: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98802D-002B-5CE0-51C8-4780B60428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3687425" y="3415464"/>
            <a:ext cx="6400800" cy="6400800"/>
          </a:xfrm>
          <a:prstGeom prst="rect">
            <a:avLst/>
          </a:prstGeom>
        </p:spPr>
      </p:pic>
      <p:pic>
        <p:nvPicPr>
          <p:cNvPr id="6" name="Picture 5" descr="A diagram of a diagram&#10;&#10;AI-generated content may be incorrect.">
            <a:extLst>
              <a:ext uri="{FF2B5EF4-FFF2-40B4-BE49-F238E27FC236}">
                <a16:creationId xmlns:a16="http://schemas.microsoft.com/office/drawing/2014/main" id="{91B4E14F-E28D-D37D-7D9E-727C00E12C0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16554" b="19847"/>
          <a:stretch>
            <a:fillRect/>
          </a:stretch>
        </p:blipFill>
        <p:spPr>
          <a:xfrm>
            <a:off x="1303425" y="19678024"/>
            <a:ext cx="9090255" cy="32537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39D9C89-9BF4-4B6D-6DA0-F156AC85514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63967" y="13199222"/>
            <a:ext cx="3200400" cy="3200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14A594-FEB9-E428-8A0E-64E43A247FC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163967" y="17675222"/>
            <a:ext cx="3200400" cy="3200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41035DE-8555-E04B-39E3-7341DE928F08}"/>
              </a:ext>
            </a:extLst>
          </p:cNvPr>
          <p:cNvSpPr txBox="1"/>
          <p:nvPr/>
        </p:nvSpPr>
        <p:spPr>
          <a:xfrm>
            <a:off x="1295399" y="24207364"/>
            <a:ext cx="4457236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000"/>
              </a:lnSpc>
            </a:pP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Kontakt</a:t>
            </a:r>
          </a:p>
          <a:p>
            <a:pPr>
              <a:lnSpc>
                <a:spcPts val="4000"/>
              </a:lnSpc>
            </a:pPr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Gabriele Cyril, Research Assistant</a:t>
            </a:r>
          </a:p>
          <a:p>
            <a:endParaRPr lang="de-CH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8589A4C-C793-79D3-141B-8A9EDE20B4C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163967" y="22295721"/>
            <a:ext cx="3200400" cy="32004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AC7BC91-77FE-E06B-81C2-9430B42DE12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7837" y="27739656"/>
            <a:ext cx="447783" cy="447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379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1" id="{45D0BC08-1FFC-4B05-88B7-798E33502EAB}" vid="{1E4F79FC-831A-42B7-BF0A-46F8509C7AE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F&amp;E_Hochformat_InIT</Template>
  <TotalTime>0</TotalTime>
  <Words>178</Words>
  <Application>Microsoft Office PowerPoint</Application>
  <PresentationFormat>Custom</PresentationFormat>
  <Paragraphs>59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Gabriele Cyril (gabc)</dc:creator>
  <cp:keywords/>
  <dc:description/>
  <cp:lastModifiedBy>Gabriele Cyril (gabc)</cp:lastModifiedBy>
  <cp:revision>8</cp:revision>
  <dcterms:created xsi:type="dcterms:W3CDTF">2026-06-03T08:55:54Z</dcterms:created>
  <dcterms:modified xsi:type="dcterms:W3CDTF">2026-06-03T12:33:03Z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2026-04-30T13:40:02Z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0bdbe453-518a-4480-b238-7aac6fa51f48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