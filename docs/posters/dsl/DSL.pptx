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66C"/>
    <a:srgbClr val="FFDC0C"/>
    <a:srgbClr val="A3D045"/>
    <a:srgbClr val="FFA70E"/>
    <a:srgbClr val="113059"/>
    <a:srgbClr val="8FC45F"/>
    <a:srgbClr val="CBC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6" autoAdjust="0"/>
    <p:restoredTop sz="94589"/>
  </p:normalViewPr>
  <p:slideViewPr>
    <p:cSldViewPr snapToGrid="0" showGuides="1">
      <p:cViewPr>
        <p:scale>
          <a:sx n="50" d="100"/>
          <a:sy n="50" d="100"/>
        </p:scale>
        <p:origin x="990" y="7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5280-A5D1-B44D-BF76-717E7F04FA7C}" type="datetimeFigureOut">
              <a:rPr lang="de-ES" smtClean="0"/>
              <a:t>06/12/2026</a:t>
            </a:fld>
            <a:endParaRPr lang="de-E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E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E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C8FA-C205-8C4D-BABA-5DEF8A02357D}" type="slidenum">
              <a:rPr lang="de-ES" smtClean="0"/>
              <a:t>‹#›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5659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E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FC8FA-C205-8C4D-BABA-5DEF8A02357D}" type="slidenum">
              <a:rPr lang="de-ES" smtClean="0"/>
              <a:t>1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30989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4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602" userDrawn="1">
          <p15:clr>
            <a:srgbClr val="FBAE40"/>
          </p15:clr>
        </p15:guide>
        <p15:guide id="4" pos="6868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607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12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580" userDrawn="1">
          <p15:clr>
            <a:srgbClr val="FBAE40"/>
          </p15:clr>
        </p15:guide>
        <p15:guide id="4" pos="8890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118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  <p15:guide id="16" pos="4853" userDrawn="1">
          <p15:clr>
            <a:srgbClr val="FBAE40"/>
          </p15:clr>
        </p15:guide>
        <p15:guide id="17" pos="861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339D31E-B214-FBE7-9F24-4AF3A3DD535C}"/>
              </a:ext>
            </a:extLst>
          </p:cNvPr>
          <p:cNvSpPr/>
          <p:nvPr userDrawn="1"/>
        </p:nvSpPr>
        <p:spPr>
          <a:xfrm>
            <a:off x="0" y="0"/>
            <a:ext cx="21383625" cy="7577138"/>
          </a:xfrm>
          <a:prstGeom prst="rect">
            <a:avLst/>
          </a:prstGeom>
          <a:solidFill>
            <a:srgbClr val="FFD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E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B3794D-F3F1-6273-BCF2-560B30828F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400" y="1293813"/>
            <a:ext cx="2581132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9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6" userDrawn="1">
          <p15:clr>
            <a:srgbClr val="F26B43"/>
          </p15:clr>
        </p15:guide>
        <p15:guide id="2" pos="12654" userDrawn="1">
          <p15:clr>
            <a:srgbClr val="F26B43"/>
          </p15:clr>
        </p15:guide>
        <p15:guide id="3" orient="horz" pos="815" userDrawn="1">
          <p15:clr>
            <a:srgbClr val="F26B43"/>
          </p15:clr>
        </p15:guide>
        <p15:guide id="4" orient="horz" pos="182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svg"/><Relationship Id="rId17" Type="http://schemas.microsoft.com/office/2007/relationships/hdphoto" Target="../media/hdphoto2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">
            <a:extLst>
              <a:ext uri="{FF2B5EF4-FFF2-40B4-BE49-F238E27FC236}">
                <a16:creationId xmlns:a16="http://schemas.microsoft.com/office/drawing/2014/main" id="{2D58A933-1368-BDA9-D738-82CD528BF0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400" y="11091864"/>
            <a:ext cx="18784800" cy="17907750"/>
          </a:xfrm>
          <a:prstGeom prst="rect">
            <a:avLst/>
          </a:prstGeom>
          <a:noFill/>
        </p:spPr>
        <p:txBody>
          <a:bodyPr wrap="square" numCol="2" spcCol="432000" rtlCol="0">
            <a:noAutofit/>
          </a:bodyPr>
          <a:lstStyle/>
          <a:p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</a:t>
            </a:r>
            <a:r>
              <a:rPr lang="de-DE" sz="3600" b="1" dirty="0" err="1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Language (DSL) </a:t>
            </a:r>
          </a:p>
          <a:p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 Lösung:</a:t>
            </a:r>
            <a:endParaRPr lang="de-DE" sz="3600" dirty="0">
              <a:solidFill>
                <a:srgbClr val="053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Eine DSL ist nützlich, wenn man eine bestimmte Aufgabe immer wieder beschreiben möchte.</a:t>
            </a:r>
          </a:p>
          <a:p>
            <a:pPr>
              <a:lnSpc>
                <a:spcPts val="4000"/>
              </a:lnSpc>
            </a:pP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Zum Beispiel: einen Weg, ein Rezept, Spielregeln oder Befehle für einen Roboter…</a:t>
            </a:r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 ist eine DSL definiert?</a:t>
            </a:r>
          </a:p>
          <a:p>
            <a:pPr>
              <a:lnSpc>
                <a:spcPts val="4000"/>
              </a:lnSpc>
            </a:pP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Eine DSL kann ganz unterschiedlich aussehen. </a:t>
            </a:r>
            <a:r>
              <a:rPr lang="de-CH" sz="3600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Wichtig ist</a:t>
            </a: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ts val="4000"/>
              </a:lnSpc>
            </a:pP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Alle verstehen, was die Wörter 	bedeuten.</a:t>
            </a: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</a:t>
            </a: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: Diese DSL beschreibt einen Pfad, also einen Weg durch ein Labyrinth:</a:t>
            </a: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b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 finde ich DSL im echten Leben?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Rezepte sind eine</a:t>
            </a:r>
          </a:p>
          <a:p>
            <a:pPr>
              <a:lnSpc>
                <a:spcPts val="4000"/>
              </a:lnSpc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Art DSL:</a:t>
            </a:r>
            <a:b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Musiknoten </a:t>
            </a:r>
          </a:p>
          <a:p>
            <a:pPr>
              <a:lnSpc>
                <a:spcPts val="4000"/>
              </a:lnSpc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sind ebenfalls DSLs: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Spielregeln können </a:t>
            </a:r>
          </a:p>
          <a:p>
            <a:pPr>
              <a:lnSpc>
                <a:spcPts val="4000"/>
              </a:lnSpc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auch als DSL verstanden</a:t>
            </a:r>
          </a:p>
          <a:p>
            <a:pPr>
              <a:lnSpc>
                <a:spcPts val="4000"/>
              </a:lnSpc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werden: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CH" sz="3600" b="1" dirty="0">
                <a:latin typeface="Arial" panose="020B0604020202020204" pitchFamily="34" charset="0"/>
                <a:cs typeface="Arial" panose="020B0604020202020204" pitchFamily="34" charset="0"/>
              </a:rPr>
              <a:t>Befehle für einen </a:t>
            </a:r>
          </a:p>
          <a:p>
            <a:pPr>
              <a:lnSpc>
                <a:spcPts val="4000"/>
              </a:lnSpc>
            </a:pPr>
            <a:r>
              <a:rPr lang="de-CH" sz="3600" b="1" dirty="0">
                <a:latin typeface="Arial" panose="020B0604020202020204" pitchFamily="34" charset="0"/>
                <a:cs typeface="Arial" panose="020B0604020202020204" pitchFamily="34" charset="0"/>
              </a:rPr>
              <a:t>Roboter sind auch DSLs: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E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lientitel">
            <a:extLst>
              <a:ext uri="{FF2B5EF4-FFF2-40B4-BE49-F238E27FC236}">
                <a16:creationId xmlns:a16="http://schemas.microsoft.com/office/drawing/2014/main" id="{C427CC06-E3A4-93BE-4C3D-E04AE8C202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920418"/>
            <a:ext cx="2407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ES" sz="6000" dirty="0"/>
              <a:t>Folientitel: Hochformat Option 1</a:t>
            </a:r>
          </a:p>
        </p:txBody>
      </p:sp>
      <p:sp>
        <p:nvSpPr>
          <p:cNvPr id="9" name="Absender">
            <a:extLst>
              <a:ext uri="{FF2B5EF4-FFF2-40B4-BE49-F238E27FC236}">
                <a16:creationId xmlns:a16="http://schemas.microsoft.com/office/drawing/2014/main" id="{AC01F2C9-3397-A183-8F4D-624C00D6CD73}"/>
              </a:ext>
            </a:extLst>
          </p:cNvPr>
          <p:cNvSpPr txBox="1">
            <a:spLocks/>
          </p:cNvSpPr>
          <p:nvPr/>
        </p:nvSpPr>
        <p:spPr>
          <a:xfrm>
            <a:off x="15238499" y="1608398"/>
            <a:ext cx="4849726" cy="1823576"/>
          </a:xfrm>
          <a:prstGeom prst="rect">
            <a:avLst/>
          </a:prstGeom>
          <a:noFill/>
        </p:spPr>
        <p:txBody>
          <a:bodyPr wrap="none" numCol="1" spcCol="432000" rtlCol="0">
            <a:spAutoFit/>
          </a:bodyPr>
          <a:lstStyle/>
          <a:p>
            <a:pPr marL="14288">
              <a:lnSpc>
                <a:spcPts val="4500"/>
              </a:lnSpc>
            </a:pPr>
            <a:r>
              <a:rPr lang="en-US" sz="40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pPr marL="14288">
              <a:lnSpc>
                <a:spcPts val="4500"/>
              </a:lnSpc>
            </a:pPr>
            <a:r>
              <a:rPr lang="en-US" sz="40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14288">
              <a:lnSpc>
                <a:spcPts val="4500"/>
              </a:lnSpc>
            </a:pPr>
            <a:r>
              <a:rPr lang="en-US" sz="4000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 für Informatik</a:t>
            </a:r>
          </a:p>
        </p:txBody>
      </p:sp>
      <p:sp>
        <p:nvSpPr>
          <p:cNvPr id="22" name="Titel">
            <a:extLst>
              <a:ext uri="{FF2B5EF4-FFF2-40B4-BE49-F238E27FC236}">
                <a16:creationId xmlns:a16="http://schemas.microsoft.com/office/drawing/2014/main" id="{E46BC8C7-0FA9-BBF3-4D8D-BB3880223D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95399" y="5465310"/>
            <a:ext cx="18659569" cy="4407162"/>
          </a:xfrm>
          <a:prstGeom prst="roundRect">
            <a:avLst>
              <a:gd name="adj" fmla="val 5729"/>
            </a:avLst>
          </a:prstGeom>
          <a:solidFill>
            <a:srgbClr val="05366C"/>
          </a:solidFill>
        </p:spPr>
        <p:txBody>
          <a:bodyPr vert="horz" wrap="none" lIns="360000" tIns="360000" rIns="360000" bIns="180000" rtlCol="0" anchor="ctr" anchorCtr="0">
            <a:spAutoFit/>
          </a:bodyPr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5000" kern="1200">
                <a:solidFill>
                  <a:srgbClr val="0536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5400" b="0" i="0" u="none" strike="noStrike" kern="1200" cap="none" spc="0" normalizeH="0" baseline="0" noProof="0" dirty="0" err="1">
                <a:ln>
                  <a:noFill/>
                </a:ln>
                <a:solidFill>
                  <a:srgbClr val="FFDC0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No</a:t>
            </a:r>
            <a:r>
              <a:rPr lang="de-CH" sz="5400" dirty="0">
                <a:solidFill>
                  <a:srgbClr val="FFDC0C"/>
                </a:solidFill>
                <a:latin typeface="Arial" panose="020B0604020202020204"/>
              </a:rPr>
              <a:t> </a:t>
            </a:r>
            <a:r>
              <a:rPr kumimoji="0" lang="de-CH" sz="5400" b="0" i="0" u="none" strike="noStrike" kern="1200" cap="none" spc="0" normalizeH="0" baseline="0" noProof="0" dirty="0">
                <a:ln>
                  <a:noFill/>
                </a:ln>
                <a:solidFill>
                  <a:srgbClr val="FFDC0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Code Softwareentwicklung:</a:t>
            </a:r>
            <a:br>
              <a:rPr kumimoji="0" lang="de-CH" sz="5000" b="0" i="0" u="none" strike="noStrike" kern="1200" cap="none" spc="0" normalizeH="0" baseline="0" noProof="0" dirty="0">
                <a:ln>
                  <a:noFill/>
                </a:ln>
                <a:solidFill>
                  <a:srgbClr val="FFDC0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</a:br>
            <a:r>
              <a:rPr kumimoji="0" lang="de-CH" sz="10500" b="0" i="0" u="none" strike="noStrike" kern="1200" cap="none" spc="0" normalizeH="0" baseline="0" noProof="0" dirty="0">
                <a:ln>
                  <a:noFill/>
                </a:ln>
                <a:solidFill>
                  <a:srgbClr val="FFDC0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Wie programmiere ich 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500" dirty="0">
                <a:solidFill>
                  <a:srgbClr val="FFDC0C"/>
                </a:solidFill>
                <a:latin typeface="Arial" panose="020B0604020202020204"/>
              </a:rPr>
              <a:t>mit Worten die jeder versteht?</a:t>
            </a:r>
            <a:endParaRPr kumimoji="0" lang="de-CH" sz="10500" b="0" i="0" u="none" strike="noStrike" kern="1200" cap="none" spc="0" normalizeH="0" baseline="0" noProof="0" dirty="0">
              <a:ln>
                <a:noFill/>
              </a:ln>
              <a:solidFill>
                <a:srgbClr val="FFDC0C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7B6510-676A-636F-51DB-14A890EBB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824" r="38800" b="2408"/>
          <a:stretch>
            <a:fillRect/>
          </a:stretch>
        </p:blipFill>
        <p:spPr>
          <a:xfrm>
            <a:off x="1303425" y="19591171"/>
            <a:ext cx="8783391" cy="658102"/>
          </a:xfrm>
          <a:prstGeom prst="rect">
            <a:avLst/>
          </a:prstGeom>
          <a:ln w="38100"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2ED89B-CE96-1A1C-0D3A-3A56C693A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5362" y="12845739"/>
            <a:ext cx="3600000" cy="360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CB2EDB8-34C5-0D5A-74C4-A2C9E59F1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5362" y="16966690"/>
            <a:ext cx="3600000" cy="360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F788DD-628E-F99F-C68B-4C4991ED8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5362" y="21439614"/>
            <a:ext cx="3600000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7E3C4D-E449-623E-F5D1-810955220878}"/>
              </a:ext>
            </a:extLst>
          </p:cNvPr>
          <p:cNvSpPr txBox="1"/>
          <p:nvPr/>
        </p:nvSpPr>
        <p:spPr>
          <a:xfrm rot="20457915">
            <a:off x="4043212" y="911787"/>
            <a:ext cx="6614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400" b="1">
                <a:solidFill>
                  <a:srgbClr val="05366C"/>
                </a:solidFill>
              </a:rPr>
              <a:t>Hol </a:t>
            </a:r>
            <a:r>
              <a:rPr lang="de-CH" sz="4400" b="1" dirty="0">
                <a:solidFill>
                  <a:srgbClr val="05366C"/>
                </a:solidFill>
              </a:rPr>
              <a:t>dir deine Glace:</a:t>
            </a:r>
          </a:p>
          <a:p>
            <a:pPr algn="ctr"/>
            <a:r>
              <a:rPr lang="de-CH" sz="4400" b="1" dirty="0">
                <a:solidFill>
                  <a:srgbClr val="05366C"/>
                </a:solidFill>
              </a:rPr>
              <a:t>Scannen &amp; Spielen!</a:t>
            </a:r>
          </a:p>
        </p:txBody>
      </p:sp>
      <p:pic>
        <p:nvPicPr>
          <p:cNvPr id="10" name="Picture 9" descr="A drawing of a blue ice cream cone&#10;&#10;AI-generated content may be incorrect.">
            <a:extLst>
              <a:ext uri="{FF2B5EF4-FFF2-40B4-BE49-F238E27FC236}">
                <a16:creationId xmlns:a16="http://schemas.microsoft.com/office/drawing/2014/main" id="{A06FCEEE-C07B-2E22-C78C-3AE47E9E6C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293" b="91308" l="9888" r="89872">
                        <a14:foregroundMark x1="51196" y1="8612" x2="49522" y2="8373"/>
                        <a14:foregroundMark x1="49601" y1="91308" x2="49601" y2="91308"/>
                        <a14:backgroundMark x1="48724" y1="7895" x2="48724" y2="7895"/>
                        <a14:backgroundMark x1="51276" y1="8373" x2="49282" y2="97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00000">
            <a:off x="7137834" y="2357992"/>
            <a:ext cx="2676720" cy="267672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C84186A-FA96-4230-CA51-764838F2E5F0}"/>
              </a:ext>
            </a:extLst>
          </p:cNvPr>
          <p:cNvGrpSpPr/>
          <p:nvPr/>
        </p:nvGrpSpPr>
        <p:grpSpPr>
          <a:xfrm>
            <a:off x="9661730" y="434630"/>
            <a:ext cx="4841700" cy="4736365"/>
            <a:chOff x="9661730" y="434630"/>
            <a:chExt cx="4841700" cy="4736365"/>
          </a:xfrm>
        </p:grpSpPr>
        <p:sp>
          <p:nvSpPr>
            <p:cNvPr id="6" name="Google Shape;110;p14">
              <a:extLst>
                <a:ext uri="{FF2B5EF4-FFF2-40B4-BE49-F238E27FC236}">
                  <a16:creationId xmlns:a16="http://schemas.microsoft.com/office/drawing/2014/main" id="{4A028DB4-B606-FB06-89A5-D0645391D987}"/>
                </a:ext>
              </a:extLst>
            </p:cNvPr>
            <p:cNvSpPr/>
            <p:nvPr/>
          </p:nvSpPr>
          <p:spPr>
            <a:xfrm>
              <a:off x="9661730" y="434630"/>
              <a:ext cx="4841700" cy="4736365"/>
            </a:xfrm>
            <a:prstGeom prst="ellipse">
              <a:avLst/>
            </a:prstGeom>
            <a:solidFill>
              <a:srgbClr val="05366C"/>
            </a:solidFill>
            <a:ln w="9525" cap="flat" cmpd="sng">
              <a:solidFill>
                <a:srgbClr val="05366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99" tIns="65999" rIns="65999" bIns="65999" anchor="ctr" anchorCtr="0">
              <a:noAutofit/>
            </a:bodyPr>
            <a:lstStyle/>
            <a:p>
              <a:pPr algn="ctr"/>
              <a:endParaRPr sz="754" dirty="0"/>
            </a:p>
          </p:txBody>
        </p:sp>
        <p:pic>
          <p:nvPicPr>
            <p:cNvPr id="18" name="Picture 17" descr="A qr code with a white background&#10;&#10;AI-generated content may be incorrect.">
              <a:extLst>
                <a:ext uri="{FF2B5EF4-FFF2-40B4-BE49-F238E27FC236}">
                  <a16:creationId xmlns:a16="http://schemas.microsoft.com/office/drawing/2014/main" id="{81EDBF36-0840-F85F-76D6-452D1B318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8751" t="8546" r="8050" b="9333"/>
            <a:stretch>
              <a:fillRect/>
            </a:stretch>
          </p:blipFill>
          <p:spPr>
            <a:xfrm>
              <a:off x="10461384" y="1182574"/>
              <a:ext cx="3242392" cy="3200400"/>
            </a:xfrm>
            <a:prstGeom prst="rect">
              <a:avLst/>
            </a:prstGeom>
            <a:ln>
              <a:solidFill>
                <a:srgbClr val="05366C"/>
              </a:solidFill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FEA664-252B-E90F-0351-9AED590ED9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2440" y="20353960"/>
            <a:ext cx="6705360" cy="6687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66B70A-8F1B-765A-924A-1AC2DD653F7C}"/>
              </a:ext>
            </a:extLst>
          </p:cNvPr>
          <p:cNvSpPr txBox="1"/>
          <p:nvPr/>
        </p:nvSpPr>
        <p:spPr>
          <a:xfrm>
            <a:off x="1533432" y="27754111"/>
            <a:ext cx="445723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Kontakt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>Cyril Gabriele, Research Assistant</a:t>
            </a:r>
          </a:p>
          <a:p>
            <a:endParaRPr lang="de-CH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E8A33A-D04B-2F20-58F4-1CC07D080E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11215" y="27666919"/>
            <a:ext cx="1800000" cy="180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8B035D-3E49-2BE3-91CE-C5EFD84C80AF}"/>
              </a:ext>
            </a:extLst>
          </p:cNvPr>
          <p:cNvSpPr txBox="1"/>
          <p:nvPr/>
        </p:nvSpPr>
        <p:spPr>
          <a:xfrm>
            <a:off x="9350093" y="26635461"/>
            <a:ext cx="4457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b="1" dirty="0">
                <a:solidFill>
                  <a:srgbClr val="05366C"/>
                </a:solidFill>
              </a:rPr>
              <a:t>Finde uns hier:</a:t>
            </a:r>
          </a:p>
        </p:txBody>
      </p:sp>
      <p:pic>
        <p:nvPicPr>
          <p:cNvPr id="21" name="Picture 2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56B958D-88DD-8273-9E54-E8B55D7B7BA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6087" t="5731" r="6413" b="6489"/>
          <a:stretch>
            <a:fillRect/>
          </a:stretch>
        </p:blipFill>
        <p:spPr>
          <a:xfrm>
            <a:off x="10321904" y="27673884"/>
            <a:ext cx="1794269" cy="180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2874424-1751-7FB6-3DA4-AF6E3AA72774}"/>
              </a:ext>
            </a:extLst>
          </p:cNvPr>
          <p:cNvSpPr txBox="1"/>
          <p:nvPr/>
        </p:nvSpPr>
        <p:spPr>
          <a:xfrm>
            <a:off x="9846214" y="27046225"/>
            <a:ext cx="2745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b="1" dirty="0">
                <a:solidFill>
                  <a:srgbClr val="05366C"/>
                </a:solidFill>
              </a:rPr>
              <a:t>Software Engineering</a:t>
            </a:r>
          </a:p>
          <a:p>
            <a:r>
              <a:rPr lang="de-CH" sz="2000" b="1" dirty="0">
                <a:solidFill>
                  <a:srgbClr val="05366C"/>
                </a:solidFill>
              </a:rPr>
              <a:t> Research Group:</a:t>
            </a:r>
            <a:endParaRPr lang="de-CH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2C7C94-B7BF-D6A6-17F1-C42BCCA3D685}"/>
              </a:ext>
            </a:extLst>
          </p:cNvPr>
          <p:cNvGrpSpPr/>
          <p:nvPr/>
        </p:nvGrpSpPr>
        <p:grpSpPr>
          <a:xfrm>
            <a:off x="14215898" y="27200113"/>
            <a:ext cx="1824117" cy="400110"/>
            <a:chOff x="5101645" y="27862817"/>
            <a:chExt cx="1824117" cy="40011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250C133-3897-BB76-26D6-600BEC3F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101645" y="27892538"/>
              <a:ext cx="340668" cy="34066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0F81F6-4FBE-3B69-EA0C-D14FC1792866}"/>
                </a:ext>
              </a:extLst>
            </p:cNvPr>
            <p:cNvSpPr txBox="1"/>
            <p:nvPr/>
          </p:nvSpPr>
          <p:spPr>
            <a:xfrm>
              <a:off x="5510206" y="27862817"/>
              <a:ext cx="1415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000" b="1" dirty="0">
                  <a:solidFill>
                    <a:srgbClr val="05366C"/>
                  </a:solidFill>
                </a:rPr>
                <a:t>GitHub:</a:t>
              </a:r>
              <a:endParaRPr lang="de-CH" sz="20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10D4E2C-26E0-A946-6C49-94EF402C956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382355" y="3726289"/>
            <a:ext cx="4572613" cy="4572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96F29-7BCB-2B3B-6E54-B10C9AF6C2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61185" y="25912538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7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45D0BC08-1FFC-4B05-88B7-798E33502EAB}" vid="{1E4F79FC-831A-42B7-BF0A-46F8509C7AE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F&amp;E_Hochformat_InIT</Template>
  <TotalTime>0</TotalTime>
  <Words>170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Gabriele Cyril (gabc)</dc:creator>
  <cp:keywords/>
  <dc:description/>
  <cp:lastModifiedBy>Gabriele Cyril (gabc)</cp:lastModifiedBy>
  <cp:revision>29</cp:revision>
  <dcterms:created xsi:type="dcterms:W3CDTF">2026-06-03T08:55:54Z</dcterms:created>
  <dcterms:modified xsi:type="dcterms:W3CDTF">2026-06-12T11:32:41Z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2026-04-30T13:40:02Z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0bdbe453-518a-4480-b238-7aac6fa51f48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