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6"/>
  </p:notesMasterIdLst>
  <p:sldIdLst>
    <p:sldId id="256" r:id="rId5"/>
  </p:sldIdLst>
  <p:sldSz cx="21959888" cy="32759650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2" userDrawn="1">
          <p15:clr>
            <a:srgbClr val="747775"/>
          </p15:clr>
        </p15:guide>
        <p15:guide id="2" orient="horz" pos="34" userDrawn="1">
          <p15:clr>
            <a:srgbClr val="747775"/>
          </p15:clr>
        </p15:guide>
        <p15:guide id="3" pos="13801" userDrawn="1">
          <p15:clr>
            <a:srgbClr val="747775"/>
          </p15:clr>
        </p15:guide>
        <p15:guide id="4" orient="horz" pos="2060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A6"/>
    <a:srgbClr val="FEF04B"/>
    <a:srgbClr val="FFFFFF"/>
    <a:srgbClr val="FAED49"/>
    <a:srgbClr val="F2E547"/>
    <a:srgbClr val="EB6969"/>
    <a:srgbClr val="007839"/>
    <a:srgbClr val="FFF14B"/>
    <a:srgbClr val="D48681"/>
    <a:srgbClr val="E1AD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33C5C8-C7C1-4543-8547-5B80E09D96D4}" v="193" dt="2026-05-07T09:24:08.504"/>
  </p1510:revLst>
</p1510:revInfo>
</file>

<file path=ppt/tableStyles.xml><?xml version="1.0" encoding="utf-8"?>
<a:tblStyleLst xmlns:a="http://schemas.openxmlformats.org/drawingml/2006/main" def="{195FF871-7F92-4C79-BA14-AC987E72E2F4}">
  <a:tblStyle styleId="{195FF871-7F92-4C79-BA14-AC987E72E2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2124" y="222"/>
      </p:cViewPr>
      <p:guideLst>
        <p:guide pos="32"/>
        <p:guide orient="horz" pos="34"/>
        <p:guide pos="13801"/>
        <p:guide orient="horz" pos="206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erbeck, Tilman" userId="97e595ca-958c-4b59-9d71-4ad157c37c61" providerId="ADAL" clId="{BE93DD9D-589E-5790-AD97-9562AAB2A754}"/>
    <pc:docChg chg="modSld">
      <pc:chgData name="Haferbeck, Tilman" userId="97e595ca-958c-4b59-9d71-4ad157c37c61" providerId="ADAL" clId="{BE93DD9D-589E-5790-AD97-9562AAB2A754}" dt="2026-05-07T09:24:08.504" v="202" actId="20577"/>
      <pc:docMkLst>
        <pc:docMk/>
      </pc:docMkLst>
      <pc:sldChg chg="addSp delSp modSp mod">
        <pc:chgData name="Haferbeck, Tilman" userId="97e595ca-958c-4b59-9d71-4ad157c37c61" providerId="ADAL" clId="{BE93DD9D-589E-5790-AD97-9562AAB2A754}" dt="2026-05-07T09:24:08.504" v="202" actId="20577"/>
        <pc:sldMkLst>
          <pc:docMk/>
          <pc:sldMk cId="0" sldId="256"/>
        </pc:sldMkLst>
        <pc:spChg chg="mod">
          <ac:chgData name="Haferbeck, Tilman" userId="97e595ca-958c-4b59-9d71-4ad157c37c61" providerId="ADAL" clId="{BE93DD9D-589E-5790-AD97-9562AAB2A754}" dt="2026-05-07T09:23:20.571" v="100" actId="20577"/>
          <ac:spMkLst>
            <pc:docMk/>
            <pc:sldMk cId="0" sldId="256"/>
            <ac:spMk id="59" creationId="{00000000-0000-0000-0000-000000000000}"/>
          </ac:spMkLst>
        </pc:spChg>
        <pc:spChg chg="mod">
          <ac:chgData name="Haferbeck, Tilman" userId="97e595ca-958c-4b59-9d71-4ad157c37c61" providerId="ADAL" clId="{BE93DD9D-589E-5790-AD97-9562AAB2A754}" dt="2026-05-07T09:24:08.504" v="202" actId="20577"/>
          <ac:spMkLst>
            <pc:docMk/>
            <pc:sldMk cId="0" sldId="256"/>
            <ac:spMk id="6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79650" y="685800"/>
            <a:ext cx="229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4aa401c45_12_74:notes"/>
          <p:cNvSpPr txBox="1">
            <a:spLocks noGrp="1"/>
          </p:cNvSpPr>
          <p:nvPr>
            <p:ph type="body" idx="1"/>
          </p:nvPr>
        </p:nvSpPr>
        <p:spPr>
          <a:xfrm>
            <a:off x="685785" y="4343400"/>
            <a:ext cx="5486380" cy="4114800"/>
          </a:xfrm>
          <a:prstGeom prst="rect">
            <a:avLst/>
          </a:prstGeom>
        </p:spPr>
        <p:txBody>
          <a:bodyPr spcFirstLastPara="1" wrap="square" lIns="89675" tIns="89675" rIns="89675" bIns="8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1e4aa401c45_1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9650" y="685800"/>
            <a:ext cx="229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8596" y="4742275"/>
            <a:ext cx="20462979" cy="13073357"/>
          </a:xfrm>
          <a:prstGeom prst="rect">
            <a:avLst/>
          </a:prstGeom>
        </p:spPr>
        <p:txBody>
          <a:bodyPr spcFirstLastPara="1" wrap="square" lIns="489700" tIns="489700" rIns="489700" bIns="489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1pPr>
            <a:lvl2pPr lvl="1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2pPr>
            <a:lvl3pPr lvl="2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3pPr>
            <a:lvl4pPr lvl="3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4pPr>
            <a:lvl5pPr lvl="4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5pPr>
            <a:lvl6pPr lvl="5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6pPr>
            <a:lvl7pPr lvl="6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7pPr>
            <a:lvl8pPr lvl="7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8pPr>
            <a:lvl9pPr lvl="8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48575" y="18050832"/>
            <a:ext cx="20462979" cy="5048246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48575" y="13698983"/>
            <a:ext cx="20462979" cy="5361516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1pPr>
            <a:lvl2pPr lvl="1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2pPr>
            <a:lvl3pPr lvl="2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3pPr>
            <a:lvl4pPr lvl="3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4pPr>
            <a:lvl5pPr lvl="4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5pPr>
            <a:lvl6pPr lvl="5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6pPr>
            <a:lvl7pPr lvl="6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7pPr>
            <a:lvl8pPr lvl="7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8pPr>
            <a:lvl9pPr lvl="8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48575" y="2834409"/>
            <a:ext cx="20462979" cy="3647570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48575" y="7340232"/>
            <a:ext cx="20462979" cy="21759332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605097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660105" lvl="1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990158" lvl="2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320211" lvl="3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1650263" lvl="4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1980316" lvl="5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2310369" lvl="6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2640421" lvl="7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2970474" lvl="8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48575" y="2834409"/>
            <a:ext cx="20462979" cy="3647570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48575" y="7340232"/>
            <a:ext cx="9606146" cy="21759332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5414"/>
            </a:lvl1pPr>
            <a:lvl2pPr marL="660105" lvl="1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2pPr>
            <a:lvl3pPr marL="990158" lvl="2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3pPr>
            <a:lvl4pPr marL="1320211" lvl="3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4pPr>
            <a:lvl5pPr marL="1650263" lvl="4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5pPr>
            <a:lvl6pPr marL="1980316" lvl="5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6pPr>
            <a:lvl7pPr marL="2310369" lvl="6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7pPr>
            <a:lvl8pPr marL="2640421" lvl="7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8pPr>
            <a:lvl9pPr marL="2970474" lvl="8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605435" y="7340232"/>
            <a:ext cx="9606146" cy="21759332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5414"/>
            </a:lvl1pPr>
            <a:lvl2pPr marL="660105" lvl="1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2pPr>
            <a:lvl3pPr marL="990158" lvl="2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3pPr>
            <a:lvl4pPr marL="1320211" lvl="3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4pPr>
            <a:lvl5pPr marL="1650263" lvl="4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5pPr>
            <a:lvl6pPr marL="1980316" lvl="5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6pPr>
            <a:lvl7pPr marL="2310369" lvl="6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7pPr>
            <a:lvl8pPr marL="2640421" lvl="7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8pPr>
            <a:lvl9pPr marL="2970474" lvl="8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48575" y="2834409"/>
            <a:ext cx="20462979" cy="3647570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48575" y="3538673"/>
            <a:ext cx="6743534" cy="4813465"/>
          </a:xfrm>
          <a:prstGeom prst="rect">
            <a:avLst/>
          </a:prstGeom>
        </p:spPr>
        <p:txBody>
          <a:bodyPr spcFirstLastPara="1" wrap="square" lIns="489700" tIns="489700" rIns="489700" bIns="489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1pPr>
            <a:lvl2pPr lvl="1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2pPr>
            <a:lvl3pPr lvl="2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3pPr>
            <a:lvl4pPr lvl="3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4pPr>
            <a:lvl5pPr lvl="4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5pPr>
            <a:lvl6pPr lvl="5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6pPr>
            <a:lvl7pPr lvl="6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7pPr>
            <a:lvl8pPr lvl="7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8pPr>
            <a:lvl9pPr lvl="8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48575" y="8850504"/>
            <a:ext cx="6743534" cy="20249962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1pPr>
            <a:lvl2pPr marL="660105" lvl="1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2pPr>
            <a:lvl3pPr marL="990158" lvl="2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3pPr>
            <a:lvl4pPr marL="1320211" lvl="3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4pPr>
            <a:lvl5pPr marL="1650263" lvl="4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5pPr>
            <a:lvl6pPr marL="1980316" lvl="5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6pPr>
            <a:lvl7pPr marL="2310369" lvl="6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7pPr>
            <a:lvl8pPr marL="2640421" lvl="7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8pPr>
            <a:lvl9pPr marL="2970474" lvl="8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77379" y="2867052"/>
            <a:ext cx="15292821" cy="26054723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1pPr>
            <a:lvl2pPr lvl="1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2pPr>
            <a:lvl3pPr lvl="2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3pPr>
            <a:lvl4pPr lvl="3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4pPr>
            <a:lvl5pPr lvl="4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5pPr>
            <a:lvl6pPr lvl="5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6pPr>
            <a:lvl7pPr lvl="6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7pPr>
            <a:lvl8pPr lvl="7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8pPr>
            <a:lvl9pPr lvl="8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980061" y="-796"/>
            <a:ext cx="10980061" cy="327594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53513" tIns="353513" rIns="353513" bIns="3535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4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37622" y="7854218"/>
            <a:ext cx="9714864" cy="9440661"/>
          </a:xfrm>
          <a:prstGeom prst="rect">
            <a:avLst/>
          </a:prstGeom>
        </p:spPr>
        <p:txBody>
          <a:bodyPr spcFirstLastPara="1" wrap="square" lIns="489700" tIns="489700" rIns="489700" bIns="489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1pPr>
            <a:lvl2pPr lvl="1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2pPr>
            <a:lvl3pPr lvl="2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3pPr>
            <a:lvl4pPr lvl="3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4pPr>
            <a:lvl5pPr lvl="4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5pPr>
            <a:lvl6pPr lvl="5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6pPr>
            <a:lvl7pPr lvl="6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7pPr>
            <a:lvl8pPr lvl="7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8pPr>
            <a:lvl9pPr lvl="8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37622" y="17853072"/>
            <a:ext cx="9714864" cy="7866531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862645" y="4611708"/>
            <a:ext cx="9214805" cy="2353460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marL="330053" lvl="0" indent="-605097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660105" lvl="1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990158" lvl="2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320211" lvl="3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1650263" lvl="4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1980316" lvl="5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2310369" lvl="6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2640421" lvl="7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2970474" lvl="8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48575" y="26944965"/>
            <a:ext cx="14406620" cy="3853976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marL="330053" lvl="0" indent="-1650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48575" y="7045023"/>
            <a:ext cx="20462979" cy="12505627"/>
          </a:xfrm>
          <a:prstGeom prst="rect">
            <a:avLst/>
          </a:prstGeom>
        </p:spPr>
        <p:txBody>
          <a:bodyPr spcFirstLastPara="1" wrap="square" lIns="489700" tIns="489700" rIns="489700" bIns="489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1pPr>
            <a:lvl2pPr lvl="1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2pPr>
            <a:lvl3pPr lvl="2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3pPr>
            <a:lvl4pPr lvl="3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4pPr>
            <a:lvl5pPr lvl="4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5pPr>
            <a:lvl6pPr lvl="5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6pPr>
            <a:lvl7pPr lvl="6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7pPr>
            <a:lvl8pPr lvl="7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8pPr>
            <a:lvl9pPr lvl="8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48575" y="20076844"/>
            <a:ext cx="20462979" cy="8284606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605097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660105" lvl="1" indent="-508831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990158" lvl="2" indent="-508831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320211" lvl="3" indent="-508831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1650263" lvl="4" indent="-508831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1980316" lvl="5" indent="-508831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2310369" lvl="6" indent="-508831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2640421" lvl="7" indent="-508831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2970474" lvl="8" indent="-508831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8575" y="2834409"/>
            <a:ext cx="20462979" cy="364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8575" y="7340232"/>
            <a:ext cx="20462979" cy="2175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00" tIns="489700" rIns="489700" bIns="4897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marL="1371600" lvl="2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marL="1828800" lvl="3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marL="2286000" lvl="4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marL="2743200" lvl="5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marL="3200400" lvl="6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marL="3657600" lvl="7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marL="4114800" lvl="8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 algn="r">
              <a:buNone/>
              <a:defRPr sz="3826">
                <a:solidFill>
                  <a:schemeClr val="dk2"/>
                </a:solidFill>
              </a:defRPr>
            </a:lvl1pPr>
            <a:lvl2pPr lvl="1" algn="r">
              <a:buNone/>
              <a:defRPr sz="3826">
                <a:solidFill>
                  <a:schemeClr val="dk2"/>
                </a:solidFill>
              </a:defRPr>
            </a:lvl2pPr>
            <a:lvl3pPr lvl="2" algn="r">
              <a:buNone/>
              <a:defRPr sz="3826">
                <a:solidFill>
                  <a:schemeClr val="dk2"/>
                </a:solidFill>
              </a:defRPr>
            </a:lvl3pPr>
            <a:lvl4pPr lvl="3" algn="r">
              <a:buNone/>
              <a:defRPr sz="3826">
                <a:solidFill>
                  <a:schemeClr val="dk2"/>
                </a:solidFill>
              </a:defRPr>
            </a:lvl4pPr>
            <a:lvl5pPr lvl="4" algn="r">
              <a:buNone/>
              <a:defRPr sz="3826">
                <a:solidFill>
                  <a:schemeClr val="dk2"/>
                </a:solidFill>
              </a:defRPr>
            </a:lvl5pPr>
            <a:lvl6pPr lvl="5" algn="r">
              <a:buNone/>
              <a:defRPr sz="3826">
                <a:solidFill>
                  <a:schemeClr val="dk2"/>
                </a:solidFill>
              </a:defRPr>
            </a:lvl6pPr>
            <a:lvl7pPr lvl="6" algn="r">
              <a:buNone/>
              <a:defRPr sz="3826">
                <a:solidFill>
                  <a:schemeClr val="dk2"/>
                </a:solidFill>
              </a:defRPr>
            </a:lvl7pPr>
            <a:lvl8pPr lvl="7" algn="r">
              <a:buNone/>
              <a:defRPr sz="3826">
                <a:solidFill>
                  <a:schemeClr val="dk2"/>
                </a:solidFill>
              </a:defRPr>
            </a:lvl8pPr>
            <a:lvl9pPr lvl="8" algn="r">
              <a:buNone/>
              <a:defRPr sz="3826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793070" y="1459652"/>
            <a:ext cx="17010395" cy="280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27"/>
              </a:spcBef>
              <a:buClr>
                <a:schemeClr val="dk1"/>
              </a:buClr>
              <a:buSzPts val="1100"/>
            </a:pPr>
            <a:r>
              <a:rPr lang="en-GB" sz="61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Was </a:t>
            </a:r>
            <a:r>
              <a:rPr lang="en-GB" sz="61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ist</a:t>
            </a:r>
            <a:r>
              <a:rPr lang="en-GB" sz="61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61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eine</a:t>
            </a:r>
            <a:r>
              <a:rPr lang="en-GB" sz="61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>
              <a:lnSpc>
                <a:spcPct val="115000"/>
              </a:lnSpc>
              <a:spcBef>
                <a:spcPts val="1227"/>
              </a:spcBef>
              <a:buClr>
                <a:schemeClr val="dk1"/>
              </a:buClr>
              <a:buSzPts val="1100"/>
            </a:pPr>
            <a:r>
              <a:rPr lang="en-GB" sz="6600" b="1" dirty="0">
                <a:solidFill>
                  <a:srgbClr val="0064A6"/>
                </a:solidFill>
                <a:latin typeface="Lato"/>
                <a:ea typeface="Lato"/>
                <a:cs typeface="Lato"/>
                <a:sym typeface="Lato"/>
              </a:rPr>
              <a:t>Domain Specific Language (DSL)?</a:t>
            </a:r>
            <a:endParaRPr lang="en-GB" sz="6600" b="1" dirty="0">
              <a:solidFill>
                <a:srgbClr val="0064A6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115000"/>
              </a:lnSpc>
              <a:spcBef>
                <a:spcPts val="1227"/>
              </a:spcBef>
              <a:buClr>
                <a:schemeClr val="dk1"/>
              </a:buClr>
              <a:buSzPts val="1100"/>
            </a:pPr>
            <a:endParaRPr lang="en-GB" sz="5775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324305" y="5450638"/>
            <a:ext cx="21301318" cy="1828800"/>
          </a:xfrm>
          <a:prstGeom prst="rect">
            <a:avLst/>
          </a:prstGeom>
          <a:solidFill>
            <a:srgbClr val="0064A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423" tIns="0" rIns="99423" bIns="0" anchor="ctr" anchorCtr="0">
            <a:noAutofit/>
          </a:bodyPr>
          <a:lstStyle/>
          <a:p>
            <a:pPr algn="ctr"/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Überblick</a:t>
            </a:r>
            <a:endParaRPr sz="600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-3699" y="31772432"/>
            <a:ext cx="21960122" cy="861079"/>
          </a:xfrm>
          <a:prstGeom prst="rect">
            <a:avLst/>
          </a:prstGeom>
          <a:solidFill>
            <a:srgbClr val="0064A6"/>
          </a:solidFill>
          <a:ln>
            <a:noFill/>
          </a:ln>
        </p:spPr>
        <p:txBody>
          <a:bodyPr spcFirstLastPara="1" wrap="square" lIns="65999" tIns="65999" rIns="65999" bIns="65999" anchor="ctr" anchorCtr="0">
            <a:noAutofit/>
          </a:bodyPr>
          <a:lstStyle/>
          <a:p>
            <a:pPr algn="ctr"/>
            <a:r>
              <a:rPr lang="en-GB" sz="1733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ZHAW - InIT – Software Engineering Team</a:t>
            </a:r>
            <a:endParaRPr sz="1733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34212" y="7491068"/>
            <a:ext cx="21300098" cy="629424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14" tIns="65314" rIns="65314" bIns="65314" anchor="ctr" anchorCtr="0">
            <a:noAutofit/>
          </a:bodyPr>
          <a:lstStyle/>
          <a:p>
            <a:pPr algn="ctr"/>
            <a:endParaRPr sz="1000" b="1"/>
          </a:p>
        </p:txBody>
      </p:sp>
      <p:sp>
        <p:nvSpPr>
          <p:cNvPr id="89" name="Google Shape;89;p14"/>
          <p:cNvSpPr/>
          <p:nvPr/>
        </p:nvSpPr>
        <p:spPr>
          <a:xfrm>
            <a:off x="334213" y="23416183"/>
            <a:ext cx="21301318" cy="1828800"/>
          </a:xfrm>
          <a:prstGeom prst="rect">
            <a:avLst/>
          </a:prstGeom>
          <a:solidFill>
            <a:srgbClr val="0064A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423" tIns="0" rIns="99423" bIns="0" anchor="ctr" anchorCtr="0">
            <a:noAutofit/>
          </a:bodyPr>
          <a:lstStyle/>
          <a:p>
            <a:pPr algn="ctr"/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sollte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ich mir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merken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? </a:t>
            </a:r>
            <a:endParaRPr sz="600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20412916" y="32409687"/>
            <a:ext cx="1580306" cy="24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999" tIns="65999" rIns="65999" bIns="65999" anchor="t" anchorCtr="0">
            <a:spAutoFit/>
          </a:bodyPr>
          <a:lstStyle/>
          <a:p>
            <a:pPr algn="ctr"/>
            <a:r>
              <a:rPr lang="en-GB" sz="722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GitHub: InIT SE Team</a:t>
            </a:r>
            <a:endParaRPr sz="722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CD76F97-2374-E586-496F-1A08A9785DFF}"/>
              </a:ext>
            </a:extLst>
          </p:cNvPr>
          <p:cNvSpPr txBox="1"/>
          <p:nvPr/>
        </p:nvSpPr>
        <p:spPr>
          <a:xfrm>
            <a:off x="12956707" y="16259355"/>
            <a:ext cx="184731" cy="208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754"/>
          </a:p>
        </p:txBody>
      </p:sp>
      <p:pic>
        <p:nvPicPr>
          <p:cNvPr id="38" name="Grafik 37" descr="Lichter an mit einfarbiger Füllung">
            <a:extLst>
              <a:ext uri="{FF2B5EF4-FFF2-40B4-BE49-F238E27FC236}">
                <a16:creationId xmlns:a16="http://schemas.microsoft.com/office/drawing/2014/main" id="{80BDA873-1402-9F74-5FDC-E5E1BCFDC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9753" y="22080550"/>
            <a:ext cx="392092" cy="930826"/>
          </a:xfrm>
          <a:prstGeom prst="rect">
            <a:avLst/>
          </a:prstGeom>
        </p:spPr>
      </p:pic>
      <p:pic>
        <p:nvPicPr>
          <p:cNvPr id="118" name="Grafik 117" descr="Lichter an mit einfarbiger Füllung">
            <a:extLst>
              <a:ext uri="{FF2B5EF4-FFF2-40B4-BE49-F238E27FC236}">
                <a16:creationId xmlns:a16="http://schemas.microsoft.com/office/drawing/2014/main" id="{694C3260-59AD-DD71-B057-C8FCB369C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06862" y="19805782"/>
            <a:ext cx="481164" cy="481164"/>
          </a:xfrm>
          <a:prstGeom prst="rect">
            <a:avLst/>
          </a:prstGeom>
        </p:spPr>
      </p:pic>
      <p:pic>
        <p:nvPicPr>
          <p:cNvPr id="37" name="Grafik 36" descr="Lichter an mit einfarbiger Füllung">
            <a:extLst>
              <a:ext uri="{FF2B5EF4-FFF2-40B4-BE49-F238E27FC236}">
                <a16:creationId xmlns:a16="http://schemas.microsoft.com/office/drawing/2014/main" id="{DE4B9104-23D0-1934-A858-7AD692076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9374" y="21419242"/>
            <a:ext cx="481164" cy="481164"/>
          </a:xfrm>
          <a:prstGeom prst="rect">
            <a:avLst/>
          </a:prstGeom>
        </p:spPr>
      </p:pic>
      <p:pic>
        <p:nvPicPr>
          <p:cNvPr id="2" name="Picture 1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B2B50891-3327-B2C1-7EC9-BBF69AB98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49858" y="349963"/>
            <a:ext cx="2175765" cy="2275173"/>
          </a:xfrm>
          <a:prstGeom prst="rect">
            <a:avLst/>
          </a:prstGeom>
        </p:spPr>
      </p:pic>
      <p:pic>
        <p:nvPicPr>
          <p:cNvPr id="5" name="Picture 4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90DE99BD-7708-0FC9-E15A-CAD5A36F87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33" t="7863" r="8195" b="8030"/>
          <a:stretch>
            <a:fillRect/>
          </a:stretch>
        </p:blipFill>
        <p:spPr>
          <a:xfrm>
            <a:off x="20909280" y="31800101"/>
            <a:ext cx="650276" cy="65365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387C52F-79FC-37B3-ACEF-AD8A2533B2D0}"/>
              </a:ext>
            </a:extLst>
          </p:cNvPr>
          <p:cNvGrpSpPr/>
          <p:nvPr/>
        </p:nvGrpSpPr>
        <p:grpSpPr>
          <a:xfrm>
            <a:off x="13866470" y="450280"/>
            <a:ext cx="4841700" cy="4736365"/>
            <a:chOff x="13866470" y="450280"/>
            <a:chExt cx="4841700" cy="4736365"/>
          </a:xfrm>
        </p:grpSpPr>
        <p:sp>
          <p:nvSpPr>
            <p:cNvPr id="7" name="Google Shape;110;p14">
              <a:extLst>
                <a:ext uri="{FF2B5EF4-FFF2-40B4-BE49-F238E27FC236}">
                  <a16:creationId xmlns:a16="http://schemas.microsoft.com/office/drawing/2014/main" id="{EFDA5C2D-ABA7-605A-71A2-6F88CCE76574}"/>
                </a:ext>
              </a:extLst>
            </p:cNvPr>
            <p:cNvSpPr/>
            <p:nvPr/>
          </p:nvSpPr>
          <p:spPr>
            <a:xfrm>
              <a:off x="13866470" y="450280"/>
              <a:ext cx="4841700" cy="4736365"/>
            </a:xfrm>
            <a:prstGeom prst="ellipse">
              <a:avLst/>
            </a:prstGeom>
            <a:solidFill>
              <a:srgbClr val="FEF04B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99" tIns="65999" rIns="65999" bIns="65999" anchor="ctr" anchorCtr="0">
              <a:noAutofit/>
            </a:bodyPr>
            <a:lstStyle/>
            <a:p>
              <a:pPr algn="ctr"/>
              <a:endParaRPr sz="754" dirty="0"/>
            </a:p>
          </p:txBody>
        </p:sp>
        <p:pic>
          <p:nvPicPr>
            <p:cNvPr id="16" name="Picture 15" descr="A qr code with a white background&#10;&#10;AI-generated content may be incorrect.">
              <a:extLst>
                <a:ext uri="{FF2B5EF4-FFF2-40B4-BE49-F238E27FC236}">
                  <a16:creationId xmlns:a16="http://schemas.microsoft.com/office/drawing/2014/main" id="{D0EE1DED-099F-6551-ADD8-9EF382C6C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094" t="8652" r="8394" b="8259"/>
            <a:stretch>
              <a:fillRect/>
            </a:stretch>
          </p:blipFill>
          <p:spPr>
            <a:xfrm>
              <a:off x="14721749" y="1237435"/>
              <a:ext cx="3131139" cy="3153044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67B357B9-3D36-04B9-10CA-37DE8C74410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7825"/>
          <a:stretch>
            <a:fillRect/>
          </a:stretch>
        </p:blipFill>
        <p:spPr>
          <a:xfrm>
            <a:off x="1335724" y="12746264"/>
            <a:ext cx="19485553" cy="936718"/>
          </a:xfrm>
          <a:prstGeom prst="rect">
            <a:avLst/>
          </a:prstGeom>
          <a:ln w="38100"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97775ED-D27E-C469-C5EB-00B7CB2F293F}"/>
              </a:ext>
            </a:extLst>
          </p:cNvPr>
          <p:cNvSpPr txBox="1"/>
          <p:nvPr/>
        </p:nvSpPr>
        <p:spPr>
          <a:xfrm>
            <a:off x="522692" y="7672353"/>
            <a:ext cx="211116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de-CH" sz="4000" b="1" dirty="0">
                <a:solidFill>
                  <a:srgbClr val="0064A6"/>
                </a:solidFill>
              </a:rPr>
              <a:t>Wann brauche ich eine DSL?</a:t>
            </a:r>
          </a:p>
          <a:p>
            <a:r>
              <a:rPr lang="de-CH" sz="3600" dirty="0"/>
              <a:t>	Eine DSL ist nützlich, wenn man eine bestimmte Aufgabe immer wieder beschreiben möchte.</a:t>
            </a:r>
          </a:p>
          <a:p>
            <a:r>
              <a:rPr lang="de-CH" sz="3600" dirty="0"/>
              <a:t>	Zum </a:t>
            </a:r>
            <a:r>
              <a:rPr lang="de-CH" sz="3600" b="1" dirty="0">
                <a:solidFill>
                  <a:srgbClr val="0064A6"/>
                </a:solidFill>
              </a:rPr>
              <a:t>Beispiel</a:t>
            </a:r>
            <a:r>
              <a:rPr lang="de-CH" sz="3600" dirty="0"/>
              <a:t>: einen Weg, ein Rezept, Spielregeln oder Befehle für einen Roboter…</a:t>
            </a:r>
          </a:p>
          <a:p>
            <a:endParaRPr lang="de-CH" sz="1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CH" sz="4000" b="1" dirty="0">
                <a:solidFill>
                  <a:srgbClr val="0064A6"/>
                </a:solidFill>
              </a:rPr>
              <a:t>Wie sieht eine DSL aus?</a:t>
            </a:r>
          </a:p>
          <a:p>
            <a:pPr lvl="8"/>
            <a:r>
              <a:rPr lang="de-CH" sz="3600" dirty="0"/>
              <a:t>	Eine DSL kann ganz unterschiedlich aussehen. Wichtig ist: Alle verstehen, was die Wörter 	bedeuten.</a:t>
            </a:r>
          </a:p>
          <a:p>
            <a:pPr lvl="8"/>
            <a:endParaRPr lang="de-CH" sz="3600" dirty="0"/>
          </a:p>
          <a:p>
            <a:pPr lvl="8"/>
            <a:r>
              <a:rPr lang="de-CH" sz="3600" dirty="0"/>
              <a:t>Hier ein </a:t>
            </a:r>
            <a:r>
              <a:rPr lang="de-CH" sz="3600" b="1" dirty="0">
                <a:solidFill>
                  <a:srgbClr val="0064A6"/>
                </a:solidFill>
              </a:rPr>
              <a:t>Beispiel</a:t>
            </a:r>
            <a:r>
              <a:rPr lang="de-CH" sz="3600" dirty="0"/>
              <a:t>: Diese DSL </a:t>
            </a:r>
            <a:r>
              <a:rPr lang="de-CH" sz="3600" u="sng" dirty="0"/>
              <a:t>beschreibt einen Pfad</a:t>
            </a:r>
            <a:r>
              <a:rPr lang="de-CH" sz="3600" dirty="0"/>
              <a:t>, also einen Weg:</a:t>
            </a:r>
          </a:p>
        </p:txBody>
      </p:sp>
      <p:sp>
        <p:nvSpPr>
          <p:cNvPr id="25" name="Google Shape;61;p14">
            <a:extLst>
              <a:ext uri="{FF2B5EF4-FFF2-40B4-BE49-F238E27FC236}">
                <a16:creationId xmlns:a16="http://schemas.microsoft.com/office/drawing/2014/main" id="{712CB8DB-208D-252E-5595-5FF3070DE303}"/>
              </a:ext>
            </a:extLst>
          </p:cNvPr>
          <p:cNvSpPr/>
          <p:nvPr/>
        </p:nvSpPr>
        <p:spPr>
          <a:xfrm>
            <a:off x="324305" y="14018517"/>
            <a:ext cx="21301318" cy="1828800"/>
          </a:xfrm>
          <a:prstGeom prst="rect">
            <a:avLst/>
          </a:prstGeom>
          <a:solidFill>
            <a:srgbClr val="0064A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423" tIns="0" rIns="99423" bIns="0" anchor="ctr" anchorCtr="0">
            <a:noAutofit/>
          </a:bodyPr>
          <a:lstStyle/>
          <a:p>
            <a:pPr algn="ctr"/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Wo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finde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ich DSL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echten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Leben?</a:t>
            </a:r>
            <a:endParaRPr sz="600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Google Shape;64;p14">
            <a:extLst>
              <a:ext uri="{FF2B5EF4-FFF2-40B4-BE49-F238E27FC236}">
                <a16:creationId xmlns:a16="http://schemas.microsoft.com/office/drawing/2014/main" id="{79F4C8BB-5EE8-C95A-DDAC-BBF1F321AB12}"/>
              </a:ext>
            </a:extLst>
          </p:cNvPr>
          <p:cNvSpPr/>
          <p:nvPr/>
        </p:nvSpPr>
        <p:spPr>
          <a:xfrm>
            <a:off x="334212" y="16119721"/>
            <a:ext cx="21300098" cy="708170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14" tIns="65314" rIns="65314" bIns="65314" anchor="ctr" anchorCtr="0">
            <a:noAutofit/>
          </a:bodyPr>
          <a:lstStyle/>
          <a:p>
            <a:pPr algn="ctr"/>
            <a:endParaRPr sz="1000" b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1AD53F-187D-D7C1-428A-19DB48C3C773}"/>
              </a:ext>
            </a:extLst>
          </p:cNvPr>
          <p:cNvSpPr txBox="1"/>
          <p:nvPr/>
        </p:nvSpPr>
        <p:spPr>
          <a:xfrm>
            <a:off x="2733042" y="16790792"/>
            <a:ext cx="32516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6000" dirty="0">
                <a:solidFill>
                  <a:srgbClr val="0064A6"/>
                </a:solidFill>
              </a:rPr>
              <a:t>Rezepte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96C341-AAE8-EF95-062C-237930B9E37A}"/>
              </a:ext>
            </a:extLst>
          </p:cNvPr>
          <p:cNvSpPr txBox="1"/>
          <p:nvPr/>
        </p:nvSpPr>
        <p:spPr>
          <a:xfrm>
            <a:off x="8987111" y="16721669"/>
            <a:ext cx="4353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6000" dirty="0">
                <a:solidFill>
                  <a:srgbClr val="0064A6"/>
                </a:solidFill>
              </a:rPr>
              <a:t>Musiknoten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5070CF-7956-66F5-7227-0808439F3C86}"/>
              </a:ext>
            </a:extLst>
          </p:cNvPr>
          <p:cNvSpPr txBox="1"/>
          <p:nvPr/>
        </p:nvSpPr>
        <p:spPr>
          <a:xfrm>
            <a:off x="15626804" y="16740264"/>
            <a:ext cx="4353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6000" dirty="0">
                <a:solidFill>
                  <a:srgbClr val="0064A6"/>
                </a:solidFill>
              </a:rPr>
              <a:t>Spielregeln</a:t>
            </a:r>
          </a:p>
        </p:txBody>
      </p:sp>
      <p:pic>
        <p:nvPicPr>
          <p:cNvPr id="15" name="Grafik 14" descr="Lichter an mit einfarbiger Füllung">
            <a:extLst>
              <a:ext uri="{FF2B5EF4-FFF2-40B4-BE49-F238E27FC236}">
                <a16:creationId xmlns:a16="http://schemas.microsoft.com/office/drawing/2014/main" id="{EEC474EB-24C9-2DF2-0CB6-4C649B79D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840" y="25459741"/>
            <a:ext cx="554945" cy="660103"/>
          </a:xfrm>
          <a:prstGeom prst="rect">
            <a:avLst/>
          </a:prstGeom>
        </p:spPr>
      </p:pic>
      <p:sp>
        <p:nvSpPr>
          <p:cNvPr id="11" name="Google Shape;73;p14">
            <a:extLst>
              <a:ext uri="{FF2B5EF4-FFF2-40B4-BE49-F238E27FC236}">
                <a16:creationId xmlns:a16="http://schemas.microsoft.com/office/drawing/2014/main" id="{0A67A2DB-A2A3-87ED-1AB8-4A923E3B184F}"/>
              </a:ext>
            </a:extLst>
          </p:cNvPr>
          <p:cNvSpPr/>
          <p:nvPr/>
        </p:nvSpPr>
        <p:spPr>
          <a:xfrm>
            <a:off x="9903233" y="25789792"/>
            <a:ext cx="10662118" cy="5437831"/>
          </a:xfrm>
          <a:prstGeom prst="roundRect">
            <a:avLst>
              <a:gd name="adj" fmla="val 16667"/>
            </a:avLst>
          </a:prstGeom>
          <a:solidFill>
            <a:srgbClr val="EB6969"/>
          </a:solidFill>
          <a:ln w="12700" cap="flat" cmpd="sng">
            <a:solidFill>
              <a:srgbClr val="EB69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999" tIns="65999" rIns="65999" bIns="65999" anchor="ctr" anchorCtr="0">
            <a:noAutofit/>
          </a:bodyPr>
          <a:lstStyle/>
          <a:p>
            <a:pPr algn="ctr"/>
            <a:r>
              <a:rPr lang="de-CH" sz="5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Eine DSL ist eine Sprache für eine bestimmte Aufgabe.</a:t>
            </a:r>
          </a:p>
          <a:p>
            <a:pPr algn="ctr"/>
            <a:r>
              <a:rPr lang="de-CH" sz="5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Sie kann nicht alles. </a:t>
            </a:r>
          </a:p>
          <a:p>
            <a:pPr algn="ctr"/>
            <a:r>
              <a:rPr lang="de-CH" sz="5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Für ihre Spezialaufgabe ist sie aber besonders einfach und gut.</a:t>
            </a:r>
            <a:endParaRPr lang="de-DE" sz="5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6AB4F-8FA9-2BBD-FBEA-400B0D4E48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05466" y="17970685"/>
            <a:ext cx="5029200" cy="5029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540FD6-C40A-63CE-C0E6-0C060C6D50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9172" y="17965994"/>
            <a:ext cx="5029200" cy="5029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416742-9EB9-49E5-3802-B26388C4EA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2878" y="17957077"/>
            <a:ext cx="5029200" cy="5029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76E1E1-08F7-ED66-50BF-086C3D3765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76616" y="25565500"/>
            <a:ext cx="5943600" cy="5943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3A02966-A68D-29BF-5E46-90F398CDFE9A}"/>
              </a:ext>
            </a:extLst>
          </p:cNvPr>
          <p:cNvSpPr txBox="1"/>
          <p:nvPr/>
        </p:nvSpPr>
        <p:spPr>
          <a:xfrm rot="20939472">
            <a:off x="9154965" y="865820"/>
            <a:ext cx="59728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400" b="1" dirty="0">
                <a:solidFill>
                  <a:srgbClr val="0064A6"/>
                </a:solidFill>
              </a:rPr>
              <a:t>Holl dir deine Glace:</a:t>
            </a:r>
          </a:p>
          <a:p>
            <a:r>
              <a:rPr lang="de-CH" sz="4400" b="1" dirty="0">
                <a:solidFill>
                  <a:srgbClr val="0064A6"/>
                </a:solidFill>
              </a:rPr>
              <a:t>Scannen &amp; Spielen!</a:t>
            </a:r>
          </a:p>
        </p:txBody>
      </p:sp>
      <p:pic>
        <p:nvPicPr>
          <p:cNvPr id="3" name="Picture 2" descr="A drawing of a blue ice cream cone&#10;&#10;AI-generated content may be incorrect.">
            <a:extLst>
              <a:ext uri="{FF2B5EF4-FFF2-40B4-BE49-F238E27FC236}">
                <a16:creationId xmlns:a16="http://schemas.microsoft.com/office/drawing/2014/main" id="{C7666724-84C8-6596-313D-7BDC3CF3F15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000000">
            <a:off x="6409475" y="338210"/>
            <a:ext cx="2676720" cy="2676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3E3EC84F1D76046A9605CF609F4B910" ma:contentTypeVersion="10" ma:contentTypeDescription="Ein neues Dokument erstellen." ma:contentTypeScope="" ma:versionID="ffa7b20e67b2695047ad05e6c222c758">
  <xsd:schema xmlns:xsd="http://www.w3.org/2001/XMLSchema" xmlns:xs="http://www.w3.org/2001/XMLSchema" xmlns:p="http://schemas.microsoft.com/office/2006/metadata/properties" xmlns:ns2="d99fbba9-b0c5-41e4-bd7b-eba107164ed2" xmlns:ns3="bf23129c-1b43-4332-bafd-71ec737cb216" targetNamespace="http://schemas.microsoft.com/office/2006/metadata/properties" ma:root="true" ma:fieldsID="e257c34421467a942ad7cdc1e6043f25" ns2:_="" ns3:_="">
    <xsd:import namespace="d99fbba9-b0c5-41e4-bd7b-eba107164ed2"/>
    <xsd:import namespace="bf23129c-1b43-4332-bafd-71ec737cb2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fbba9-b0c5-41e4-bd7b-eba107164e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6e639ec-35b1-4635-902a-5d545950234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3129c-1b43-4332-bafd-71ec737cb21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15cf10c-c835-4b4d-a8fb-c31499187468}" ma:internalName="TaxCatchAll" ma:showField="CatchAllData" ma:web="bf23129c-1b43-4332-bafd-71ec737cb2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23129c-1b43-4332-bafd-71ec737cb216" xsi:nil="true"/>
    <lcf76f155ced4ddcb4097134ff3c332f xmlns="d99fbba9-b0c5-41e4-bd7b-eba107164e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A61ED05-2251-49ED-987A-699F2A1E96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541FA1-3950-43B4-A9C9-CFC3BEA39050}">
  <ds:schemaRefs>
    <ds:schemaRef ds:uri="bf23129c-1b43-4332-bafd-71ec737cb216"/>
    <ds:schemaRef ds:uri="d99fbba9-b0c5-41e4-bd7b-eba107164e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DF2BC6-633C-4672-9478-50321794F28C}">
  <ds:schemaRefs>
    <ds:schemaRef ds:uri="bf23129c-1b43-4332-bafd-71ec737cb216"/>
    <ds:schemaRef ds:uri="d99fbba9-b0c5-41e4-bd7b-eba107164e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Lato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Gabriele Cyril (gabc)</cp:lastModifiedBy>
  <cp:revision>18</cp:revision>
  <cp:lastPrinted>2026-04-15T07:17:12Z</cp:lastPrinted>
  <dcterms:modified xsi:type="dcterms:W3CDTF">2026-05-26T13:16:31Z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0x010100D3E3EC84F1D76046A9605CF609F4B910</vt:lpwstr>
  </property>
  <property fmtid="{D5CDD505-2E9C-101B-9397-08002B2CF9AE}" pid="3" name="MediaServiceImageTags">
    <vt:lpwstr/>
  </property>
  <property fmtid="{D5CDD505-2E9C-101B-9397-08002B2CF9AE}" pid="4" name="MSIP_Label_10d9bad3-6dac-4e9a-89a3-89f3b8d247b2_Enabled">
    <vt:lpwstr>true</vt:lpwstr>
  </property>
  <property fmtid="{D5CDD505-2E9C-101B-9397-08002B2CF9AE}" pid="5" name="MSIP_Label_10d9bad3-6dac-4e9a-89a3-89f3b8d247b2_SetDate">
    <vt:lpwstr>2026-05-22T09:23:19Z</vt:lpwstr>
  </property>
  <property fmtid="{D5CDD505-2E9C-101B-9397-08002B2CF9AE}" pid="6" name="MSIP_Label_10d9bad3-6dac-4e9a-89a3-89f3b8d247b2_Method">
    <vt:lpwstr>Standard</vt:lpwstr>
  </property>
  <property fmtid="{D5CDD505-2E9C-101B-9397-08002B2CF9AE}" pid="7" name="MSIP_Label_10d9bad3-6dac-4e9a-89a3-89f3b8d247b2_Name">
    <vt:lpwstr>10d9bad3-6dac-4e9a-89a3-89f3b8d247b2</vt:lpwstr>
  </property>
  <property fmtid="{D5CDD505-2E9C-101B-9397-08002B2CF9AE}" pid="8" name="MSIP_Label_10d9bad3-6dac-4e9a-89a3-89f3b8d247b2_SiteId">
    <vt:lpwstr>5d1a9f9d-201f-4a10-b983-451cf65cbc1e</vt:lpwstr>
  </property>
  <property fmtid="{D5CDD505-2E9C-101B-9397-08002B2CF9AE}" pid="9" name="MSIP_Label_10d9bad3-6dac-4e9a-89a3-89f3b8d247b2_ActionId">
    <vt:lpwstr>59921399-cd44-460c-860b-89bb04a68726</vt:lpwstr>
  </property>
  <property fmtid="{D5CDD505-2E9C-101B-9397-08002B2CF9AE}" pid="10" name="MSIP_Label_10d9bad3-6dac-4e9a-89a3-89f3b8d247b2_ContentBits">
    <vt:lpwstr>0</vt:lpwstr>
  </property>
  <property fmtid="{D5CDD505-2E9C-101B-9397-08002B2CF9AE}" pid="11" name="MSIP_Label_10d9bad3-6dac-4e9a-89a3-89f3b8d247b2_Tag">
    <vt:lpwstr>10, 3, 0, 1</vt:lpwstr>
  </property>
</Properties>
</file>