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66C"/>
    <a:srgbClr val="FFDC0C"/>
    <a:srgbClr val="A3D045"/>
    <a:srgbClr val="FFA70E"/>
    <a:srgbClr val="113059"/>
    <a:srgbClr val="8FC45F"/>
    <a:srgbClr val="CBCC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89"/>
  </p:normalViewPr>
  <p:slideViewPr>
    <p:cSldViewPr snapToGrid="0" showGuides="1">
      <p:cViewPr>
        <p:scale>
          <a:sx n="33" d="100"/>
          <a:sy n="33" d="100"/>
        </p:scale>
        <p:origin x="214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E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65280-A5D1-B44D-BF76-717E7F04FA7C}" type="datetimeFigureOut">
              <a:rPr lang="de-ES" smtClean="0"/>
              <a:t>06/12/2026</a:t>
            </a:fld>
            <a:endParaRPr lang="de-E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E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E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E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FC8FA-C205-8C4D-BABA-5DEF8A02357D}" type="slidenum">
              <a:rPr lang="de-ES" smtClean="0"/>
              <a:t>‹#›</a:t>
            </a:fld>
            <a:endParaRPr lang="de-ES"/>
          </a:p>
        </p:txBody>
      </p:sp>
    </p:spTree>
    <p:extLst>
      <p:ext uri="{BB962C8B-B14F-4D97-AF65-F5344CB8AC3E}">
        <p14:creationId xmlns:p14="http://schemas.microsoft.com/office/powerpoint/2010/main" val="25659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E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FC8FA-C205-8C4D-BABA-5DEF8A02357D}" type="slidenum">
              <a:rPr lang="de-ES" smtClean="0"/>
              <a:t>1</a:t>
            </a:fld>
            <a:endParaRPr lang="de-ES"/>
          </a:p>
        </p:txBody>
      </p:sp>
    </p:spTree>
    <p:extLst>
      <p:ext uri="{BB962C8B-B14F-4D97-AF65-F5344CB8AC3E}">
        <p14:creationId xmlns:p14="http://schemas.microsoft.com/office/powerpoint/2010/main" val="2309890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4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6602" userDrawn="1">
          <p15:clr>
            <a:srgbClr val="FBAE40"/>
          </p15:clr>
        </p15:guide>
        <p15:guide id="4" pos="6868" userDrawn="1">
          <p15:clr>
            <a:srgbClr val="FBAE40"/>
          </p15:clr>
        </p15:guide>
        <p15:guide id="5" orient="horz" pos="6987" userDrawn="1">
          <p15:clr>
            <a:srgbClr val="FBAE40"/>
          </p15:clr>
        </p15:guide>
        <p15:guide id="6" orient="horz" pos="14710" userDrawn="1">
          <p15:clr>
            <a:srgbClr val="FBAE40"/>
          </p15:clr>
        </p15:guide>
        <p15:guide id="8" orient="horz" pos="8607" userDrawn="1">
          <p15:clr>
            <a:srgbClr val="FBAE40"/>
          </p15:clr>
        </p15:guide>
        <p15:guide id="10" orient="horz" pos="23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124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580" userDrawn="1">
          <p15:clr>
            <a:srgbClr val="FBAE40"/>
          </p15:clr>
        </p15:guide>
        <p15:guide id="4" pos="8890" userDrawn="1">
          <p15:clr>
            <a:srgbClr val="FBAE40"/>
          </p15:clr>
        </p15:guide>
        <p15:guide id="5" orient="horz" pos="6987" userDrawn="1">
          <p15:clr>
            <a:srgbClr val="FBAE40"/>
          </p15:clr>
        </p15:guide>
        <p15:guide id="6" orient="horz" pos="14710" userDrawn="1">
          <p15:clr>
            <a:srgbClr val="FBAE40"/>
          </p15:clr>
        </p15:guide>
        <p15:guide id="8" orient="horz" pos="8118" userDrawn="1">
          <p15:clr>
            <a:srgbClr val="FBAE40"/>
          </p15:clr>
        </p15:guide>
        <p15:guide id="10" orient="horz" pos="237" userDrawn="1">
          <p15:clr>
            <a:srgbClr val="FBAE40"/>
          </p15:clr>
        </p15:guide>
        <p15:guide id="16" pos="4853" userDrawn="1">
          <p15:clr>
            <a:srgbClr val="FBAE40"/>
          </p15:clr>
        </p15:guide>
        <p15:guide id="17" pos="861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339D31E-B214-FBE7-9F24-4AF3A3DD535C}"/>
              </a:ext>
            </a:extLst>
          </p:cNvPr>
          <p:cNvSpPr/>
          <p:nvPr userDrawn="1"/>
        </p:nvSpPr>
        <p:spPr>
          <a:xfrm>
            <a:off x="0" y="0"/>
            <a:ext cx="21383625" cy="7577138"/>
          </a:xfrm>
          <a:prstGeom prst="rect">
            <a:avLst/>
          </a:prstGeom>
          <a:solidFill>
            <a:srgbClr val="FFD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ES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AB3794D-F3F1-6273-BCF2-560B30828F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5400" y="1293813"/>
            <a:ext cx="2581132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9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16" userDrawn="1">
          <p15:clr>
            <a:srgbClr val="F26B43"/>
          </p15:clr>
        </p15:guide>
        <p15:guide id="2" pos="12654" userDrawn="1">
          <p15:clr>
            <a:srgbClr val="F26B43"/>
          </p15:clr>
        </p15:guide>
        <p15:guide id="3" orient="horz" pos="815" userDrawn="1">
          <p15:clr>
            <a:srgbClr val="F26B43"/>
          </p15:clr>
        </p15:guide>
        <p15:guide id="4" orient="horz" pos="182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8.jpeg"/><Relationship Id="rId18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microsoft.com/office/2007/relationships/hdphoto" Target="../media/hdphoto5.wdp"/><Relationship Id="rId17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6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">
            <a:extLst>
              <a:ext uri="{FF2B5EF4-FFF2-40B4-BE49-F238E27FC236}">
                <a16:creationId xmlns:a16="http://schemas.microsoft.com/office/drawing/2014/main" id="{2D58A933-1368-BDA9-D738-82CD528BF0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95400" y="11091864"/>
            <a:ext cx="18784800" cy="17907750"/>
          </a:xfrm>
          <a:prstGeom prst="rect">
            <a:avLst/>
          </a:prstGeom>
          <a:noFill/>
        </p:spPr>
        <p:txBody>
          <a:bodyPr wrap="square" numCol="2" spcCol="432000" rtlCol="0">
            <a:noAutofit/>
          </a:bodyPr>
          <a:lstStyle/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Algorithmen als Lösung: </a:t>
            </a:r>
          </a:p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Schritt für Schritt!</a:t>
            </a:r>
          </a:p>
          <a:p>
            <a:r>
              <a:rPr lang="de-CH" sz="3600" dirty="0"/>
              <a:t>Wenn du heute auf dem direktesten Weg nach Hause willst, musst du den kürzesten Pfad nehmen. </a:t>
            </a:r>
          </a:p>
          <a:p>
            <a:r>
              <a:rPr lang="de-CH" sz="3600" dirty="0"/>
              <a:t>Der kürzeste Pfad ist also der beste, oder anders gesagt der schnellste Weg.</a:t>
            </a:r>
            <a:endParaRPr lang="de-CH" sz="1600" dirty="0"/>
          </a:p>
          <a:p>
            <a:pPr>
              <a:lnSpc>
                <a:spcPts val="4000"/>
              </a:lnSpc>
            </a:pP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für Algorithmen gibt es?</a:t>
            </a:r>
          </a:p>
          <a:p>
            <a:pPr>
              <a:lnSpc>
                <a:spcPts val="4000"/>
              </a:lnSpc>
            </a:pP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Wenn alle Schritte gleich gross sind, dann verwendet man den </a:t>
            </a:r>
            <a:r>
              <a:rPr lang="de-CH" sz="3600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Dijkstra Algorithmus</a:t>
            </a: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Mit diesem Algorithmus, kann man dann in einem Netz den kürzesten Pfad finden. Du siehst das animiert in der Demo:</a:t>
            </a:r>
          </a:p>
          <a:p>
            <a:pPr>
              <a:lnSpc>
                <a:spcPts val="4000"/>
              </a:lnSpc>
            </a:pPr>
            <a:r>
              <a:rPr lang="de-CH" sz="3600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Scanne dafür den QR-Code oben.</a:t>
            </a: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</a:t>
            </a:r>
            <a:r>
              <a:rPr lang="de-CH" sz="3600" dirty="0">
                <a:latin typeface="Arial" panose="020B0604020202020204" pitchFamily="34" charset="0"/>
                <a:cs typeface="Arial" panose="020B0604020202020204" pitchFamily="34" charset="0"/>
              </a:rPr>
              <a:t>: unten siehst du in grün den kürzesten Pfad in diesem Netz</a:t>
            </a: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CH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r>
              <a:rPr lang="de-CH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Wann brauche ich schnellste Pfade im echten Leben?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Der Postbote nutzt das, für eine schnelle Lieferung:</a:t>
            </a:r>
            <a:b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Wenn du in die Ferien fährst und ihr das Navi braucht: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lang="de-DE" sz="3600" b="1" dirty="0">
                <a:latin typeface="Arial" panose="020B0604020202020204" pitchFamily="34" charset="0"/>
                <a:cs typeface="Arial" panose="020B0604020202020204" pitchFamily="34" charset="0"/>
              </a:rPr>
              <a:t>In Spielen müssen oft kürzeste Pfade gefunden werden:</a:t>
            </a: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DE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000"/>
              </a:lnSpc>
            </a:pPr>
            <a:endParaRPr lang="de-E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olientitel">
            <a:extLst>
              <a:ext uri="{FF2B5EF4-FFF2-40B4-BE49-F238E27FC236}">
                <a16:creationId xmlns:a16="http://schemas.microsoft.com/office/drawing/2014/main" id="{C427CC06-E3A4-93BE-4C3D-E04AE8C202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920418"/>
            <a:ext cx="2407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ES" sz="6000" dirty="0"/>
              <a:t>Folientitel: Hochformat Option 1</a:t>
            </a:r>
          </a:p>
        </p:txBody>
      </p:sp>
      <p:sp>
        <p:nvSpPr>
          <p:cNvPr id="9" name="Absender">
            <a:extLst>
              <a:ext uri="{FF2B5EF4-FFF2-40B4-BE49-F238E27FC236}">
                <a16:creationId xmlns:a16="http://schemas.microsoft.com/office/drawing/2014/main" id="{AC01F2C9-3397-A183-8F4D-624C00D6CD73}"/>
              </a:ext>
            </a:extLst>
          </p:cNvPr>
          <p:cNvSpPr txBox="1">
            <a:spLocks/>
          </p:cNvSpPr>
          <p:nvPr/>
        </p:nvSpPr>
        <p:spPr>
          <a:xfrm>
            <a:off x="15238499" y="1608398"/>
            <a:ext cx="4849726" cy="1823576"/>
          </a:xfrm>
          <a:prstGeom prst="rect">
            <a:avLst/>
          </a:prstGeom>
          <a:noFill/>
        </p:spPr>
        <p:txBody>
          <a:bodyPr wrap="none" numCol="1" spcCol="432000" rtlCol="0">
            <a:spAutoFit/>
          </a:bodyPr>
          <a:lstStyle/>
          <a:p>
            <a:pPr marL="14288">
              <a:lnSpc>
                <a:spcPts val="4500"/>
              </a:lnSpc>
            </a:pPr>
            <a:r>
              <a:rPr lang="en-US" sz="40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</a:t>
            </a:r>
          </a:p>
          <a:p>
            <a:pPr marL="14288">
              <a:lnSpc>
                <a:spcPts val="4500"/>
              </a:lnSpc>
            </a:pPr>
            <a:r>
              <a:rPr lang="en-US" sz="40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</a:t>
            </a:r>
          </a:p>
          <a:p>
            <a:pPr marL="14288">
              <a:lnSpc>
                <a:spcPts val="4500"/>
              </a:lnSpc>
            </a:pPr>
            <a:r>
              <a:rPr lang="en-US" sz="4000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 für Informatik</a:t>
            </a:r>
          </a:p>
        </p:txBody>
      </p:sp>
      <p:sp>
        <p:nvSpPr>
          <p:cNvPr id="22" name="Titel">
            <a:extLst>
              <a:ext uri="{FF2B5EF4-FFF2-40B4-BE49-F238E27FC236}">
                <a16:creationId xmlns:a16="http://schemas.microsoft.com/office/drawing/2014/main" id="{E46BC8C7-0FA9-BBF3-4D8D-BB3880223D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1295399" y="5246784"/>
            <a:ext cx="17982781" cy="4844216"/>
          </a:xfrm>
          <a:prstGeom prst="roundRect">
            <a:avLst>
              <a:gd name="adj" fmla="val 5729"/>
            </a:avLst>
          </a:prstGeom>
          <a:solidFill>
            <a:srgbClr val="05366C"/>
          </a:solidFill>
        </p:spPr>
        <p:txBody>
          <a:bodyPr vert="horz" wrap="none" lIns="360000" tIns="360000" rIns="360000" bIns="180000" rtlCol="0" anchor="ctr" anchorCtr="0">
            <a:spAutoFit/>
          </a:bodyPr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5000" kern="1200">
                <a:solidFill>
                  <a:srgbClr val="05366C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5400" dirty="0">
                <a:solidFill>
                  <a:srgbClr val="FFDC0C"/>
                </a:solidFill>
                <a:latin typeface="Arial" panose="020B0604020202020204"/>
              </a:rPr>
              <a:t>Löse das Labyrinth:</a:t>
            </a:r>
          </a:p>
          <a:p>
            <a:pPr marL="0" marR="0" lvl="0" indent="0" algn="l" defTabSz="914400" rtl="0" eaLnBrk="1" fontAlgn="auto" latinLnBrk="0" hangingPunct="1">
              <a:lnSpc>
                <a:spcPct val="9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0" dirty="0">
                <a:solidFill>
                  <a:srgbClr val="FFDC0C"/>
                </a:solidFill>
                <a:latin typeface="Arial" panose="020B0604020202020204"/>
              </a:rPr>
              <a:t>Wie finde ich immer den</a:t>
            </a:r>
            <a:br>
              <a:rPr kumimoji="0" lang="de-CH" sz="12000" b="0" i="0" u="none" strike="noStrike" kern="1200" cap="none" spc="0" normalizeH="0" baseline="0" noProof="0" dirty="0">
                <a:ln>
                  <a:noFill/>
                </a:ln>
                <a:solidFill>
                  <a:srgbClr val="FFDC0C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</a:br>
            <a:r>
              <a:rPr lang="de-CH" sz="12000" dirty="0">
                <a:solidFill>
                  <a:srgbClr val="FFDC0C"/>
                </a:solidFill>
                <a:latin typeface="Arial" panose="020B0604020202020204"/>
              </a:rPr>
              <a:t>schnellsten Weg?            </a:t>
            </a:r>
            <a:endParaRPr kumimoji="0" lang="de-CH" sz="12000" b="0" i="0" u="none" strike="noStrike" kern="1200" cap="none" spc="0" normalizeH="0" baseline="0" noProof="0" dirty="0">
              <a:ln>
                <a:noFill/>
              </a:ln>
              <a:solidFill>
                <a:srgbClr val="FFDC0C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D76B1-25BF-0E51-9AAA-203D2DBF3B99}"/>
              </a:ext>
            </a:extLst>
          </p:cNvPr>
          <p:cNvSpPr txBox="1"/>
          <p:nvPr/>
        </p:nvSpPr>
        <p:spPr>
          <a:xfrm rot="20457915">
            <a:off x="4220192" y="1447376"/>
            <a:ext cx="6614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4400" b="1">
                <a:solidFill>
                  <a:srgbClr val="05366C"/>
                </a:solidFill>
              </a:rPr>
              <a:t>Hol </a:t>
            </a:r>
            <a:r>
              <a:rPr lang="de-CH" sz="4400" b="1" dirty="0">
                <a:solidFill>
                  <a:srgbClr val="05366C"/>
                </a:solidFill>
              </a:rPr>
              <a:t>dir deine Glace:</a:t>
            </a:r>
          </a:p>
          <a:p>
            <a:pPr algn="ctr"/>
            <a:r>
              <a:rPr lang="de-CH" sz="4400" b="1" dirty="0">
                <a:solidFill>
                  <a:srgbClr val="05366C"/>
                </a:solidFill>
              </a:rPr>
              <a:t>Scannen &amp; Spielen!</a:t>
            </a:r>
          </a:p>
        </p:txBody>
      </p:sp>
      <p:pic>
        <p:nvPicPr>
          <p:cNvPr id="2" name="Picture 1" descr="A drawing of a blue ice cream cone&#10;&#10;AI-generated content may be incorrect.">
            <a:extLst>
              <a:ext uri="{FF2B5EF4-FFF2-40B4-BE49-F238E27FC236}">
                <a16:creationId xmlns:a16="http://schemas.microsoft.com/office/drawing/2014/main" id="{5F29B54E-FEE8-7AC2-4465-ACDC20E3F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293" b="91308" l="9888" r="89872">
                        <a14:foregroundMark x1="51196" y1="8612" x2="49522" y2="8373"/>
                        <a14:foregroundMark x1="49601" y1="91308" x2="49601" y2="91308"/>
                        <a14:backgroundMark x1="48724" y1="7895" x2="48724" y2="7895"/>
                        <a14:backgroundMark x1="51276" y1="8373" x2="49282" y2="972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1000000">
            <a:off x="7314814" y="2893581"/>
            <a:ext cx="2676720" cy="2676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9D9C89-9BF4-4B6D-6DA0-F156AC8551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98943" y="12962175"/>
            <a:ext cx="5400000" cy="540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8802D-002B-5CE0-51C8-4780B60428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221906" y="3181350"/>
            <a:ext cx="7663209" cy="76632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14A594-FEB9-E428-8A0E-64E43A247F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8" b="89952" l="9968" r="90829">
                        <a14:foregroundMark x1="43142" y1="44737" x2="43142" y2="44737"/>
                        <a14:foregroundMark x1="42663" y1="43939" x2="42663" y2="45375"/>
                        <a14:foregroundMark x1="24880" y1="58453" x2="24880" y2="58453"/>
                        <a14:foregroundMark x1="76156" y1="56140" x2="76156" y2="56140"/>
                        <a14:foregroundMark x1="10287" y1="71451" x2="10287" y2="71451"/>
                        <a14:foregroundMark x1="41707" y1="43381" x2="42026" y2="44737"/>
                        <a14:foregroundMark x1="41707" y1="44099" x2="43780" y2="43381"/>
                        <a14:foregroundMark x1="12759" y1="68022" x2="9968" y2="72408"/>
                        <a14:foregroundMark x1="90829" y1="25120" x2="90351" y2="29027"/>
                        <a14:foregroundMark x1="75040" y1="56300" x2="76156" y2="5590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98943" y="18362175"/>
            <a:ext cx="5400000" cy="54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589A4C-C793-79D3-141B-8A9EDE20B4C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>
                        <a14:foregroundMark x1="17225" y1="15630" x2="61563" y2="16746"/>
                        <a14:foregroundMark x1="61563" y1="16746" x2="74721" y2="24003"/>
                        <a14:foregroundMark x1="74721" y1="24003" x2="75758" y2="61962"/>
                        <a14:foregroundMark x1="75758" y1="61962" x2="55502" y2="73445"/>
                        <a14:foregroundMark x1="55502" y1="73445" x2="33892" y2="75279"/>
                        <a14:foregroundMark x1="33892" y1="75279" x2="22329" y2="48963"/>
                        <a14:foregroundMark x1="22329" y1="48963" x2="21531" y2="18022"/>
                        <a14:foregroundMark x1="18022" y1="32297" x2="16746" y2="73445"/>
                        <a14:foregroundMark x1="19697" y1="75678" x2="19697" y2="75678"/>
                        <a14:foregroundMark x1="29665" y1="24721" x2="53030" y2="44338"/>
                        <a14:foregroundMark x1="53030" y1="44338" x2="56619" y2="57097"/>
                        <a14:foregroundMark x1="56619" y1="57097" x2="67703" y2="62759"/>
                        <a14:foregroundMark x1="67703" y1="62759" x2="69298" y2="74561"/>
                        <a14:foregroundMark x1="52233" y1="25837" x2="24003" y2="23604"/>
                        <a14:foregroundMark x1="24003" y1="23604" x2="35646" y2="36284"/>
                        <a14:foregroundMark x1="35646" y1="36284" x2="36922" y2="42504"/>
                        <a14:foregroundMark x1="72249" y1="36045" x2="57496" y2="41707"/>
                        <a14:foregroundMark x1="57496" y1="41707" x2="57257" y2="44896"/>
                        <a14:foregroundMark x1="43939" y1="44179" x2="43939" y2="58453"/>
                        <a14:foregroundMark x1="35008" y1="56938" x2="36124" y2="65630"/>
                        <a14:foregroundMark x1="53907" y1="53270" x2="51196" y2="68820"/>
                        <a14:foregroundMark x1="51196" y1="68820" x2="57974" y2="71770"/>
                        <a14:foregroundMark x1="79107" y1="46970" x2="77113" y2="65072"/>
                        <a14:foregroundMark x1="70574" y1="56220" x2="70415" y2="64514"/>
                        <a14:foregroundMark x1="58533" y1="65311" x2="66746" y2="73206"/>
                        <a14:foregroundMark x1="57974" y1="75439" x2="72807" y2="77352"/>
                        <a14:foregroundMark x1="69458" y1="73445" x2="62759" y2="85486"/>
                        <a14:foregroundMark x1="62759" y1="85486" x2="83573" y2="88437"/>
                        <a14:foregroundMark x1="61722" y1="26794" x2="54705" y2="38038"/>
                        <a14:foregroundMark x1="32616" y1="44737" x2="30622" y2="56061"/>
                        <a14:foregroundMark x1="80383" y1="51356" x2="80223" y2="78628"/>
                        <a14:foregroundMark x1="81898" y1="57097" x2="76156" y2="68740"/>
                        <a14:foregroundMark x1="76156" y1="68740" x2="70335" y2="67624"/>
                        <a14:foregroundMark x1="84450" y1="59011" x2="85167" y2="68820"/>
                        <a14:foregroundMark x1="69856" y1="78868" x2="80622" y2="80144"/>
                        <a14:foregroundMark x1="83254" y1="74641" x2="87560" y2="81818"/>
                        <a14:foregroundMark x1="86762" y1="83094" x2="86762" y2="83094"/>
                        <a14:foregroundMark x1="71451" y1="80861" x2="82297" y2="78150"/>
                        <a14:foregroundMark x1="82057" y1="78389" x2="81100" y2="78947"/>
                        <a14:foregroundMark x1="31419" y1="75678" x2="24083" y2="764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98943" y="24470814"/>
            <a:ext cx="5400000" cy="5400000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333CA45-1DA2-112C-1491-1EFF168770AB}"/>
              </a:ext>
            </a:extLst>
          </p:cNvPr>
          <p:cNvGrpSpPr/>
          <p:nvPr/>
        </p:nvGrpSpPr>
        <p:grpSpPr>
          <a:xfrm>
            <a:off x="9721886" y="746727"/>
            <a:ext cx="4841700" cy="4736365"/>
            <a:chOff x="9661730" y="434630"/>
            <a:chExt cx="4841700" cy="4736365"/>
          </a:xfrm>
        </p:grpSpPr>
        <p:sp>
          <p:nvSpPr>
            <p:cNvPr id="26" name="Google Shape;110;p14">
              <a:extLst>
                <a:ext uri="{FF2B5EF4-FFF2-40B4-BE49-F238E27FC236}">
                  <a16:creationId xmlns:a16="http://schemas.microsoft.com/office/drawing/2014/main" id="{992122F2-6360-717A-2E08-B7D582B74DA4}"/>
                </a:ext>
              </a:extLst>
            </p:cNvPr>
            <p:cNvSpPr/>
            <p:nvPr/>
          </p:nvSpPr>
          <p:spPr>
            <a:xfrm>
              <a:off x="9661730" y="434630"/>
              <a:ext cx="4841700" cy="4736365"/>
            </a:xfrm>
            <a:prstGeom prst="ellipse">
              <a:avLst/>
            </a:prstGeom>
            <a:solidFill>
              <a:srgbClr val="05366C"/>
            </a:solidFill>
            <a:ln w="9525" cap="flat" cmpd="sng">
              <a:solidFill>
                <a:srgbClr val="05366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5999" tIns="65999" rIns="65999" bIns="65999" anchor="ctr" anchorCtr="0">
              <a:noAutofit/>
            </a:bodyPr>
            <a:lstStyle/>
            <a:p>
              <a:pPr algn="ctr"/>
              <a:endParaRPr sz="754" dirty="0"/>
            </a:p>
          </p:txBody>
        </p:sp>
        <p:pic>
          <p:nvPicPr>
            <p:cNvPr id="27" name="Picture 26" descr="A qr code with a white background&#10;&#10;AI-generated content may be incorrect.">
              <a:extLst>
                <a:ext uri="{FF2B5EF4-FFF2-40B4-BE49-F238E27FC236}">
                  <a16:creationId xmlns:a16="http://schemas.microsoft.com/office/drawing/2014/main" id="{1E04A599-A9E3-4AD0-16E4-71D778A05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8751" t="8546" r="8050" b="9333"/>
            <a:stretch>
              <a:fillRect/>
            </a:stretch>
          </p:blipFill>
          <p:spPr>
            <a:xfrm>
              <a:off x="10461384" y="1182574"/>
              <a:ext cx="3242392" cy="3200400"/>
            </a:xfrm>
            <a:prstGeom prst="rect">
              <a:avLst/>
            </a:prstGeom>
            <a:ln>
              <a:solidFill>
                <a:srgbClr val="05366C"/>
              </a:solidFill>
            </a:ln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6B0D532-31C3-441A-E0CC-416A1DCADA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3425" y="20667661"/>
            <a:ext cx="5204377" cy="650315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58FB186-D1E0-21DA-D8C6-2915771975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748693" y="27418119"/>
            <a:ext cx="1828800" cy="182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BCDA81-28AB-BFF9-2A51-BC060E89ED97}"/>
              </a:ext>
            </a:extLst>
          </p:cNvPr>
          <p:cNvSpPr txBox="1"/>
          <p:nvPr/>
        </p:nvSpPr>
        <p:spPr>
          <a:xfrm>
            <a:off x="7205857" y="25971028"/>
            <a:ext cx="4457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b="1" dirty="0">
                <a:solidFill>
                  <a:srgbClr val="05366C"/>
                </a:solidFill>
              </a:rPr>
              <a:t>Finde uns hier:</a:t>
            </a:r>
          </a:p>
        </p:txBody>
      </p:sp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7BF31C4B-2BB9-7EC5-3955-EC160D1CCB6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6087" t="5731" r="6413" b="6489"/>
          <a:stretch>
            <a:fillRect/>
          </a:stretch>
        </p:blipFill>
        <p:spPr>
          <a:xfrm>
            <a:off x="7611498" y="27410933"/>
            <a:ext cx="1822977" cy="18288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E3CE0D9-617B-5A7F-CBAA-EE9311C596B2}"/>
              </a:ext>
            </a:extLst>
          </p:cNvPr>
          <p:cNvGrpSpPr/>
          <p:nvPr/>
        </p:nvGrpSpPr>
        <p:grpSpPr>
          <a:xfrm>
            <a:off x="10793904" y="26864121"/>
            <a:ext cx="1824117" cy="400110"/>
            <a:chOff x="5101645" y="27862817"/>
            <a:chExt cx="1824117" cy="4001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0BB0AA3-8517-2D66-8551-5D7191E6E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101645" y="27892538"/>
              <a:ext cx="340668" cy="34066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9E6E2A-E928-888D-A405-36F29E7DABB6}"/>
                </a:ext>
              </a:extLst>
            </p:cNvPr>
            <p:cNvSpPr txBox="1"/>
            <p:nvPr/>
          </p:nvSpPr>
          <p:spPr>
            <a:xfrm>
              <a:off x="5510206" y="27862817"/>
              <a:ext cx="1415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CH" sz="2000" b="1" dirty="0">
                  <a:solidFill>
                    <a:srgbClr val="05366C"/>
                  </a:solidFill>
                </a:rPr>
                <a:t>GitHub:</a:t>
              </a:r>
              <a:endParaRPr lang="de-CH" sz="2000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30D1290-7678-521C-D176-C036AC488643}"/>
              </a:ext>
            </a:extLst>
          </p:cNvPr>
          <p:cNvSpPr txBox="1"/>
          <p:nvPr/>
        </p:nvSpPr>
        <p:spPr>
          <a:xfrm>
            <a:off x="7205857" y="26710233"/>
            <a:ext cx="2745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000" b="1" dirty="0">
                <a:solidFill>
                  <a:srgbClr val="05366C"/>
                </a:solidFill>
              </a:rPr>
              <a:t>Software Engineering</a:t>
            </a:r>
          </a:p>
          <a:p>
            <a:r>
              <a:rPr lang="de-CH" sz="2000" b="1" dirty="0">
                <a:solidFill>
                  <a:srgbClr val="05366C"/>
                </a:solidFill>
              </a:rPr>
              <a:t> Research Group:</a:t>
            </a:r>
            <a:endParaRPr lang="de-CH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C093EF-4EF7-F8CD-3AA2-F788E278C2C2}"/>
              </a:ext>
            </a:extLst>
          </p:cNvPr>
          <p:cNvSpPr txBox="1"/>
          <p:nvPr/>
        </p:nvSpPr>
        <p:spPr>
          <a:xfrm>
            <a:off x="1533432" y="27754111"/>
            <a:ext cx="445723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de-DE" sz="3600" b="1" dirty="0">
                <a:solidFill>
                  <a:srgbClr val="05366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Kontakt</a:t>
            </a:r>
          </a:p>
          <a:p>
            <a:pPr>
              <a:lnSpc>
                <a:spcPts val="4000"/>
              </a:lnSpc>
            </a:pPr>
            <a:r>
              <a:rPr lang="de-DE" sz="3600" dirty="0">
                <a:latin typeface="Arial" panose="020B0604020202020204" pitchFamily="34" charset="0"/>
                <a:cs typeface="Arial" panose="020B0604020202020204" pitchFamily="34" charset="0"/>
              </a:rPr>
              <a:t>Cyril Gabriele, Research Assistant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9537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1" id="{45D0BC08-1FFC-4B05-88B7-798E33502EAB}" vid="{1E4F79FC-831A-42B7-BF0A-46F8509C7AE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F&amp;E_Hochformat_InIT</Template>
  <TotalTime>0</TotalTime>
  <Words>197</Words>
  <Application>Microsoft Office PowerPoint</Application>
  <PresentationFormat>Custom</PresentationFormat>
  <Paragraphs>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Arial</vt:lpstr>
      <vt:lpstr>Office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Gabriele Cyril (gabc)</dc:creator>
  <cp:keywords/>
  <dc:description/>
  <cp:lastModifiedBy>Gabriele Cyril (gabc)</cp:lastModifiedBy>
  <cp:revision>28</cp:revision>
  <dcterms:created xsi:type="dcterms:W3CDTF">2026-06-03T08:55:54Z</dcterms:created>
  <dcterms:modified xsi:type="dcterms:W3CDTF">2026-06-12T11:32:42Z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2026-04-30T13:40:02Z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0bdbe453-518a-4480-b238-7aac6fa51f48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